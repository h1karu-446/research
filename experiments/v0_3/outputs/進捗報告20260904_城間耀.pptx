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70" r:id="rId6"/>
    <p:sldId id="261" r:id="rId7"/>
    <p:sldId id="262" r:id="rId8"/>
    <p:sldId id="263" r:id="rId9"/>
    <p:sldId id="264" r:id="rId10"/>
    <p:sldId id="271"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4" d="100"/>
          <a:sy n="124" d="100"/>
        </p:scale>
        <p:origin x="88"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9238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B5FAE-F98B-A993-0911-1D19B3BC1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7779C-3639-82F8-E362-537751FA1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4652D-2450-DE55-0C6A-44DCC3BDA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34ABF-1B57-D94C-E7C9-A44FAE84474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995682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331720"/>
            <a:ext cx="12191695" cy="685800"/>
          </a:xfrm>
          <a:prstGeom prst="rect">
            <a:avLst/>
          </a:prstGeom>
          <a:noFill/>
          <a:ln/>
        </p:spPr>
        <p:txBody>
          <a:bodyPr wrap="square" lIns="0" tIns="0" rIns="0" bIns="0" rtlCol="0" anchor="ctr"/>
          <a:lstStyle/>
          <a:p>
            <a:pPr marL="0" indent="0" algn="ctr">
              <a:buNone/>
            </a:pPr>
            <a:r>
              <a:rPr lang="en-US" sz="4400" b="1" dirty="0">
                <a:solidFill>
                  <a:srgbClr val="21295C"/>
                </a:solidFill>
                <a:latin typeface="Cambria" pitchFamily="34" charset="0"/>
                <a:ea typeface="Cambria" pitchFamily="34" charset="-122"/>
                <a:cs typeface="Cambria" pitchFamily="34" charset="-120"/>
              </a:rPr>
              <a:t>Progress Report</a:t>
            </a:r>
            <a:endParaRPr lang="en-US" sz="4400" dirty="0"/>
          </a:p>
        </p:txBody>
      </p:sp>
      <p:sp>
        <p:nvSpPr>
          <p:cNvPr id="3" name="Text 1"/>
          <p:cNvSpPr txBox="1"/>
          <p:nvPr/>
        </p:nvSpPr>
        <p:spPr>
          <a:xfrm>
            <a:off x="0" y="3063240"/>
            <a:ext cx="12191695" cy="640080"/>
          </a:xfrm>
          <a:prstGeom prst="rect">
            <a:avLst/>
          </a:prstGeom>
          <a:noFill/>
          <a:ln/>
        </p:spPr>
        <p:txBody>
          <a:bodyPr wrap="square" lIns="0" tIns="0" rIns="0" bIns="0" rtlCol="0" anchor="ctr"/>
          <a:lstStyle/>
          <a:p>
            <a:pPr marL="0" indent="0" algn="ctr">
              <a:buNone/>
            </a:pPr>
            <a:r>
              <a:rPr lang="en-US" sz="3200" dirty="0">
                <a:solidFill>
                  <a:srgbClr val="1C7293"/>
                </a:solidFill>
                <a:latin typeface="Cambria" pitchFamily="34" charset="0"/>
                <a:ea typeface="Cambria" pitchFamily="34" charset="-122"/>
                <a:cs typeface="Cambria" pitchFamily="34" charset="-120"/>
              </a:rPr>
              <a:t>進捗報告</a:t>
            </a:r>
            <a:endParaRPr lang="en-US" sz="3200" dirty="0"/>
          </a:p>
        </p:txBody>
      </p:sp>
      <p:sp>
        <p:nvSpPr>
          <p:cNvPr id="4" name="Shape 2"/>
          <p:cNvSpPr/>
          <p:nvPr/>
        </p:nvSpPr>
        <p:spPr>
          <a:xfrm>
            <a:off x="4998568" y="3977640"/>
            <a:ext cx="2194560" cy="0"/>
          </a:xfrm>
          <a:prstGeom prst="line">
            <a:avLst/>
          </a:prstGeom>
          <a:noFill/>
          <a:ln w="12700">
            <a:solidFill>
              <a:srgbClr val="D8E1E8"/>
            </a:solidFill>
            <a:prstDash val="solid"/>
          </a:ln>
        </p:spPr>
        <p:txBody>
          <a:bodyPr/>
          <a:lstStyle/>
          <a:p>
            <a:endParaRPr lang="ja-JP" altLang="en-US"/>
          </a:p>
        </p:txBody>
      </p:sp>
      <p:sp>
        <p:nvSpPr>
          <p:cNvPr id="5" name="Text 3"/>
          <p:cNvSpPr txBox="1"/>
          <p:nvPr/>
        </p:nvSpPr>
        <p:spPr>
          <a:xfrm>
            <a:off x="0" y="4251960"/>
            <a:ext cx="12191695" cy="457200"/>
          </a:xfrm>
          <a:prstGeom prst="rect">
            <a:avLst/>
          </a:prstGeom>
          <a:noFill/>
          <a:ln/>
        </p:spPr>
        <p:txBody>
          <a:bodyPr wrap="square" lIns="0" tIns="0" rIns="0" bIns="0" rtlCol="0" anchor="ctr"/>
          <a:lstStyle/>
          <a:p>
            <a:pPr marL="0" indent="0" algn="ctr">
              <a:buNone/>
            </a:pPr>
            <a:r>
              <a:rPr lang="en-US" sz="2400" dirty="0">
                <a:solidFill>
                  <a:srgbClr val="1B2733"/>
                </a:solidFill>
                <a:latin typeface="Calibri" pitchFamily="34" charset="0"/>
                <a:ea typeface="Calibri" pitchFamily="34" charset="-122"/>
                <a:cs typeface="Calibri" pitchFamily="34" charset="-120"/>
              </a:rPr>
              <a:t>城間 耀</a:t>
            </a:r>
            <a:endParaRPr lang="en-US" sz="2400" dirty="0"/>
          </a:p>
        </p:txBody>
      </p:sp>
      <p:sp>
        <p:nvSpPr>
          <p:cNvPr id="6" name="Text 4"/>
          <p:cNvSpPr txBox="1"/>
          <p:nvPr/>
        </p:nvSpPr>
        <p:spPr>
          <a:xfrm>
            <a:off x="0" y="4754880"/>
            <a:ext cx="12191695" cy="411480"/>
          </a:xfrm>
          <a:prstGeom prst="rect">
            <a:avLst/>
          </a:prstGeom>
          <a:noFill/>
          <a:ln/>
        </p:spPr>
        <p:txBody>
          <a:bodyPr wrap="square" lIns="0" tIns="0" rIns="0" bIns="0" rtlCol="0" anchor="ctr"/>
          <a:lstStyle/>
          <a:p>
            <a:pPr marL="0" indent="0" algn="ctr">
              <a:buNone/>
            </a:pPr>
            <a:r>
              <a:rPr lang="en-US" sz="2000" dirty="0">
                <a:solidFill>
                  <a:srgbClr val="5A6B7A"/>
                </a:solidFill>
                <a:latin typeface="Calibri" pitchFamily="34" charset="0"/>
                <a:ea typeface="Calibri" pitchFamily="34" charset="-122"/>
                <a:cs typeface="Calibri" pitchFamily="34" charset="-120"/>
              </a:rPr>
              <a:t>2026年9月4日</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研究背景</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エリプソメトリー顕微鏡とは</a:t>
            </a:r>
            <a:endParaRPr lang="en-US" sz="3200" dirty="0"/>
          </a:p>
        </p:txBody>
      </p:sp>
      <p:sp>
        <p:nvSpPr>
          <p:cNvPr id="4" name="Text 2"/>
          <p:cNvSpPr txBox="1"/>
          <p:nvPr/>
        </p:nvSpPr>
        <p:spPr>
          <a:xfrm>
            <a:off x="640080" y="1920240"/>
            <a:ext cx="10911535" cy="1554480"/>
          </a:xfrm>
          <a:prstGeom prst="rect">
            <a:avLst/>
          </a:prstGeom>
          <a:noFill/>
          <a:ln/>
        </p:spPr>
        <p:txBody>
          <a:bodyPr wrap="square" lIns="0" tIns="0" rIns="0" bIns="0" rtlCol="0" anchor="t"/>
          <a:lstStyle/>
          <a:p>
            <a:pPr marL="279400" indent="-279400">
              <a:spcAft>
                <a:spcPts val="2000"/>
              </a:spcAft>
              <a:buSzPct val="100000"/>
              <a:buChar char="●"/>
            </a:pPr>
            <a:r>
              <a:rPr lang="en-US" sz="2200" dirty="0">
                <a:solidFill>
                  <a:srgbClr val="1B2733"/>
                </a:solidFill>
                <a:latin typeface="Calibri" pitchFamily="34" charset="0"/>
                <a:ea typeface="Calibri" pitchFamily="34" charset="-122"/>
                <a:cs typeface="Calibri" pitchFamily="34" charset="-120"/>
              </a:rPr>
              <a:t>反射光の変化から、薄膜の厚みや材質を非接触・非破壊で測定できる装置</a:t>
            </a:r>
            <a:endParaRPr lang="en-US" sz="2200" dirty="0"/>
          </a:p>
          <a:p>
            <a:pPr marL="279400" indent="-279400">
              <a:spcAft>
                <a:spcPts val="2000"/>
              </a:spcAft>
              <a:buSzPct val="100000"/>
              <a:buChar char="●"/>
            </a:pPr>
            <a:r>
              <a:rPr lang="en-US" sz="2200" dirty="0" err="1">
                <a:solidFill>
                  <a:srgbClr val="1B2733"/>
                </a:solidFill>
                <a:latin typeface="Calibri" pitchFamily="34" charset="0"/>
                <a:ea typeface="Calibri" pitchFamily="34" charset="-122"/>
                <a:cs typeface="Calibri" pitchFamily="34" charset="-120"/>
              </a:rPr>
              <a:t>半導体の製造ラインで、薄膜の検査に使われている</a:t>
            </a:r>
            <a:endParaRPr lang="en-US" sz="2200" dirty="0">
              <a:solidFill>
                <a:srgbClr val="1B2733"/>
              </a:solidFill>
              <a:latin typeface="Calibri" pitchFamily="34" charset="0"/>
              <a:ea typeface="Calibri" pitchFamily="34" charset="-122"/>
              <a:cs typeface="Calibri" pitchFamily="34" charset="-120"/>
            </a:endParaRPr>
          </a:p>
          <a:p>
            <a:pPr marL="279400" indent="-279400">
              <a:spcAft>
                <a:spcPts val="2000"/>
              </a:spcAft>
              <a:buSzPct val="100000"/>
              <a:buChar char="●"/>
            </a:pPr>
            <a:r>
              <a:rPr lang="en-US" sz="2200" dirty="0" err="1">
                <a:solidFill>
                  <a:srgbClr val="1B2733"/>
                </a:solidFill>
                <a:latin typeface="Calibri" pitchFamily="34" charset="0"/>
                <a:cs typeface="Calibri" pitchFamily="34" charset="-120"/>
              </a:rPr>
              <a:t>近年のAIブーム・半導体の需要高に伴い、性能向上が求められる</a:t>
            </a:r>
            <a:endParaRPr lang="en-US" sz="2200" dirty="0"/>
          </a:p>
        </p:txBody>
      </p:sp>
      <p:sp>
        <p:nvSpPr>
          <p:cNvPr id="13" name="Text 11"/>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2</a:t>
            </a:r>
            <a:endParaRPr lang="en-US" sz="2000" dirty="0"/>
          </a:p>
        </p:txBody>
      </p:sp>
      <p:pic>
        <p:nvPicPr>
          <p:cNvPr id="15" name="図 14">
            <a:extLst>
              <a:ext uri="{FF2B5EF4-FFF2-40B4-BE49-F238E27FC236}">
                <a16:creationId xmlns:a16="http://schemas.microsoft.com/office/drawing/2014/main" id="{41C16063-90E6-10F3-460D-A16F09B0D9A2}"/>
              </a:ext>
            </a:extLst>
          </p:cNvPr>
          <p:cNvPicPr>
            <a:picLocks noChangeAspect="1"/>
          </p:cNvPicPr>
          <p:nvPr/>
        </p:nvPicPr>
        <p:blipFill>
          <a:blip r:embed="rId3"/>
          <a:stretch>
            <a:fillRect/>
          </a:stretch>
        </p:blipFill>
        <p:spPr>
          <a:xfrm>
            <a:off x="2011680" y="3882399"/>
            <a:ext cx="7772400" cy="22645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研究背景</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課題:斜め照射でピントが合う範囲が狭い</a:t>
            </a:r>
            <a:endParaRPr lang="en-US" sz="3200" dirty="0"/>
          </a:p>
        </p:txBody>
      </p:sp>
      <p:sp>
        <p:nvSpPr>
          <p:cNvPr id="12" name="Text 10"/>
          <p:cNvSpPr txBox="1"/>
          <p:nvPr/>
        </p:nvSpPr>
        <p:spPr>
          <a:xfrm>
            <a:off x="6309360" y="1540764"/>
            <a:ext cx="5212080" cy="731520"/>
          </a:xfrm>
          <a:prstGeom prst="rect">
            <a:avLst/>
          </a:prstGeom>
          <a:noFill/>
          <a:ln/>
        </p:spPr>
        <p:txBody>
          <a:bodyPr wrap="square" lIns="0" tIns="0" rIns="0" bIns="0" rtlCol="0" anchor="b"/>
          <a:lstStyle/>
          <a:p>
            <a:pPr marL="0" indent="0" algn="ctr">
              <a:buNone/>
            </a:pPr>
            <a:r>
              <a:rPr lang="en-US" sz="4000" b="1" dirty="0">
                <a:solidFill>
                  <a:srgbClr val="065A82"/>
                </a:solidFill>
                <a:latin typeface="Cambria" pitchFamily="34" charset="0"/>
                <a:ea typeface="Cambria" pitchFamily="34" charset="-122"/>
                <a:cs typeface="Cambria" pitchFamily="34" charset="-120"/>
              </a:rPr>
              <a:t>約 1 μm</a:t>
            </a:r>
            <a:endParaRPr lang="en-US" sz="4000" dirty="0"/>
          </a:p>
        </p:txBody>
      </p:sp>
      <p:sp>
        <p:nvSpPr>
          <p:cNvPr id="13" name="Text 11"/>
          <p:cNvSpPr txBox="1"/>
          <p:nvPr/>
        </p:nvSpPr>
        <p:spPr>
          <a:xfrm>
            <a:off x="6309360" y="2345436"/>
            <a:ext cx="5212080" cy="68580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斜め照射でピントが合う範囲</a:t>
            </a:r>
            <a:endParaRPr lang="en-US" sz="2000" dirty="0"/>
          </a:p>
        </p:txBody>
      </p:sp>
      <p:sp>
        <p:nvSpPr>
          <p:cNvPr id="14" name="Text 12"/>
          <p:cNvSpPr txBox="1"/>
          <p:nvPr/>
        </p:nvSpPr>
        <p:spPr>
          <a:xfrm>
            <a:off x="6309360" y="2825497"/>
            <a:ext cx="5212080" cy="731520"/>
          </a:xfrm>
          <a:prstGeom prst="rect">
            <a:avLst/>
          </a:prstGeom>
          <a:noFill/>
          <a:ln/>
        </p:spPr>
        <p:txBody>
          <a:bodyPr wrap="square" lIns="0" tIns="0" rIns="0" bIns="0" rtlCol="0" anchor="b"/>
          <a:lstStyle/>
          <a:p>
            <a:pPr marL="0" indent="0" algn="ctr">
              <a:buNone/>
            </a:pPr>
            <a:r>
              <a:rPr lang="en-US" sz="4000" b="1" dirty="0">
                <a:solidFill>
                  <a:srgbClr val="B85042"/>
                </a:solidFill>
                <a:latin typeface="Cambria" pitchFamily="34" charset="0"/>
                <a:ea typeface="Cambria" pitchFamily="34" charset="-122"/>
                <a:cs typeface="Cambria" pitchFamily="34" charset="-120"/>
              </a:rPr>
              <a:t>約 200 μm</a:t>
            </a:r>
            <a:endParaRPr lang="en-US" sz="4000" dirty="0"/>
          </a:p>
        </p:txBody>
      </p:sp>
      <p:sp>
        <p:nvSpPr>
          <p:cNvPr id="15" name="Text 13"/>
          <p:cNvSpPr txBox="1"/>
          <p:nvPr/>
        </p:nvSpPr>
        <p:spPr>
          <a:xfrm>
            <a:off x="6309360" y="3630169"/>
            <a:ext cx="5212080" cy="68580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実際の試料表面の凹凸</a:t>
            </a:r>
            <a:endParaRPr lang="en-US" sz="2000" dirty="0"/>
          </a:p>
        </p:txBody>
      </p:sp>
      <p:sp>
        <p:nvSpPr>
          <p:cNvPr id="17" name="Text 15"/>
          <p:cNvSpPr txBox="1"/>
          <p:nvPr/>
        </p:nvSpPr>
        <p:spPr>
          <a:xfrm>
            <a:off x="640080" y="1974999"/>
            <a:ext cx="5980081" cy="1362561"/>
          </a:xfrm>
          <a:prstGeom prst="rect">
            <a:avLst/>
          </a:prstGeom>
          <a:noFill/>
          <a:ln/>
        </p:spPr>
        <p:txBody>
          <a:bodyPr wrap="square" lIns="0" tIns="0" rIns="0" bIns="0" rtlCol="0" anchor="t"/>
          <a:lstStyle/>
          <a:p>
            <a:pPr marL="279400" indent="-279400">
              <a:spcAft>
                <a:spcPts val="1400"/>
              </a:spcAft>
              <a:buSzPct val="100000"/>
              <a:buChar char="●"/>
            </a:pPr>
            <a:r>
              <a:rPr lang="en-US" sz="2400" dirty="0">
                <a:solidFill>
                  <a:srgbClr val="1B2733"/>
                </a:solidFill>
                <a:latin typeface="Calibri" pitchFamily="34" charset="0"/>
                <a:ea typeface="Calibri" pitchFamily="34" charset="-122"/>
                <a:cs typeface="Calibri" pitchFamily="34" charset="-120"/>
              </a:rPr>
              <a:t>70°~80°の入射が必須</a:t>
            </a:r>
          </a:p>
          <a:p>
            <a:pPr marL="279400" indent="-279400">
              <a:spcAft>
                <a:spcPts val="1400"/>
              </a:spcAft>
              <a:buSzPct val="100000"/>
              <a:buChar char="●"/>
            </a:pPr>
            <a:r>
              <a:rPr lang="en-US" sz="2400" dirty="0">
                <a:solidFill>
                  <a:srgbClr val="1B2733"/>
                </a:solidFill>
                <a:latin typeface="Calibri" pitchFamily="34" charset="0"/>
                <a:ea typeface="Calibri" pitchFamily="34" charset="-122"/>
                <a:cs typeface="Calibri" pitchFamily="34" charset="-120"/>
              </a:rPr>
              <a:t>1回の撮影では、試料のごく一部にしかピントが合わない</a:t>
            </a:r>
            <a:endParaRPr lang="en-US" sz="2400" dirty="0"/>
          </a:p>
          <a:p>
            <a:pPr marL="279400" indent="-279400">
              <a:spcAft>
                <a:spcPts val="1400"/>
              </a:spcAft>
              <a:buSzPct val="100000"/>
              <a:buChar char="●"/>
            </a:pPr>
            <a:r>
              <a:rPr lang="en-US" sz="2400" dirty="0">
                <a:solidFill>
                  <a:srgbClr val="1B2733"/>
                </a:solidFill>
                <a:latin typeface="Calibri" pitchFamily="34" charset="0"/>
                <a:ea typeface="Calibri" pitchFamily="34" charset="-122"/>
                <a:cs typeface="Calibri" pitchFamily="34" charset="-120"/>
              </a:rPr>
              <a:t>フォーカスを変えながら何度も撮り直す必要があり、計測が遅い</a:t>
            </a:r>
            <a:endParaRPr lang="en-US" sz="2400" dirty="0"/>
          </a:p>
        </p:txBody>
      </p:sp>
      <p:sp>
        <p:nvSpPr>
          <p:cNvPr id="18" name="Text 16"/>
          <p:cNvSpPr txBox="1"/>
          <p:nvPr/>
        </p:nvSpPr>
        <p:spPr>
          <a:xfrm>
            <a:off x="11307775" y="6419089"/>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3</a:t>
            </a:r>
            <a:endParaRPr lang="en-US" sz="2000" dirty="0"/>
          </a:p>
        </p:txBody>
      </p:sp>
      <p:sp>
        <p:nvSpPr>
          <p:cNvPr id="22" name="Shape 3">
            <a:extLst>
              <a:ext uri="{FF2B5EF4-FFF2-40B4-BE49-F238E27FC236}">
                <a16:creationId xmlns:a16="http://schemas.microsoft.com/office/drawing/2014/main" id="{DFEF1D65-589D-C65E-8DD7-0A1AF3D5009A}"/>
              </a:ext>
            </a:extLst>
          </p:cNvPr>
          <p:cNvSpPr/>
          <p:nvPr/>
        </p:nvSpPr>
        <p:spPr>
          <a:xfrm>
            <a:off x="609903" y="4316792"/>
            <a:ext cx="10911535" cy="0"/>
          </a:xfrm>
          <a:prstGeom prst="line">
            <a:avLst/>
          </a:prstGeom>
          <a:noFill/>
          <a:ln w="12700">
            <a:solidFill>
              <a:srgbClr val="D8E1E8"/>
            </a:solidFill>
            <a:prstDash val="solid"/>
          </a:ln>
        </p:spPr>
        <p:txBody>
          <a:bodyPr/>
          <a:lstStyle/>
          <a:p>
            <a:endParaRPr lang="ja-JP" altLang="en-US"/>
          </a:p>
        </p:txBody>
      </p:sp>
      <p:sp>
        <p:nvSpPr>
          <p:cNvPr id="23" name="Text 4">
            <a:extLst>
              <a:ext uri="{FF2B5EF4-FFF2-40B4-BE49-F238E27FC236}">
                <a16:creationId xmlns:a16="http://schemas.microsoft.com/office/drawing/2014/main" id="{C836B0C9-963A-F4E4-5117-132A1A82F144}"/>
              </a:ext>
            </a:extLst>
          </p:cNvPr>
          <p:cNvSpPr txBox="1"/>
          <p:nvPr/>
        </p:nvSpPr>
        <p:spPr>
          <a:xfrm>
            <a:off x="609904" y="4435663"/>
            <a:ext cx="10911535" cy="411480"/>
          </a:xfrm>
          <a:prstGeom prst="rect">
            <a:avLst/>
          </a:prstGeom>
          <a:noFill/>
          <a:ln/>
        </p:spPr>
        <p:txBody>
          <a:bodyPr wrap="square" lIns="0" tIns="0" rIns="0" bIns="0" rtlCol="0" anchor="ctr"/>
          <a:lstStyle/>
          <a:p>
            <a:pPr marL="0" indent="0">
              <a:buNone/>
            </a:pPr>
            <a:r>
              <a:rPr lang="en-US" sz="2000" b="1" dirty="0" err="1">
                <a:solidFill>
                  <a:srgbClr val="1C7293"/>
                </a:solidFill>
                <a:latin typeface="Calibri" pitchFamily="34" charset="0"/>
                <a:ea typeface="Calibri" pitchFamily="34" charset="-122"/>
                <a:cs typeface="Calibri" pitchFamily="34" charset="-120"/>
              </a:rPr>
              <a:t>なぜ性能向上が求められるのか</a:t>
            </a:r>
            <a:endParaRPr lang="en-US" sz="2000" dirty="0"/>
          </a:p>
        </p:txBody>
      </p:sp>
      <p:sp>
        <p:nvSpPr>
          <p:cNvPr id="24" name="Text 5">
            <a:extLst>
              <a:ext uri="{FF2B5EF4-FFF2-40B4-BE49-F238E27FC236}">
                <a16:creationId xmlns:a16="http://schemas.microsoft.com/office/drawing/2014/main" id="{880F6F50-8ABF-BBD1-C7D7-AF2B02FAAE42}"/>
              </a:ext>
            </a:extLst>
          </p:cNvPr>
          <p:cNvSpPr txBox="1"/>
          <p:nvPr/>
        </p:nvSpPr>
        <p:spPr>
          <a:xfrm>
            <a:off x="609905" y="4864609"/>
            <a:ext cx="347472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微細化・多層化</a:t>
            </a:r>
            <a:endParaRPr lang="en-US" sz="2400" dirty="0"/>
          </a:p>
        </p:txBody>
      </p:sp>
      <p:sp>
        <p:nvSpPr>
          <p:cNvPr id="25" name="Text 6">
            <a:extLst>
              <a:ext uri="{FF2B5EF4-FFF2-40B4-BE49-F238E27FC236}">
                <a16:creationId xmlns:a16="http://schemas.microsoft.com/office/drawing/2014/main" id="{8ACCB4AB-C713-B476-F6DE-61D950FDBD57}"/>
              </a:ext>
            </a:extLst>
          </p:cNvPr>
          <p:cNvSpPr txBox="1"/>
          <p:nvPr/>
        </p:nvSpPr>
        <p:spPr>
          <a:xfrm>
            <a:off x="609905" y="5367529"/>
            <a:ext cx="3474720" cy="1371600"/>
          </a:xfrm>
          <a:prstGeom prst="rect">
            <a:avLst/>
          </a:prstGeom>
          <a:noFill/>
          <a:ln/>
        </p:spPr>
        <p:txBody>
          <a:bodyPr wrap="square" lIns="0" tIns="0" rIns="0" bIns="0" rtlCol="0" anchor="ctr"/>
          <a:lstStyle/>
          <a:p>
            <a:pPr marL="0" indent="0">
              <a:buNone/>
            </a:pPr>
            <a:r>
              <a:rPr lang="en-US" sz="2000" dirty="0" err="1">
                <a:solidFill>
                  <a:srgbClr val="1B2733"/>
                </a:solidFill>
                <a:latin typeface="Calibri" pitchFamily="34" charset="0"/>
                <a:ea typeface="Calibri" pitchFamily="34" charset="-122"/>
                <a:cs typeface="Calibri" pitchFamily="34" charset="-120"/>
              </a:rPr>
              <a:t>デバイスの構造が複雑になり膜厚の管理は年々シビアになっている</a:t>
            </a:r>
            <a:endParaRPr lang="en-US" sz="2000" dirty="0"/>
          </a:p>
        </p:txBody>
      </p:sp>
      <p:sp>
        <p:nvSpPr>
          <p:cNvPr id="26" name="Text 7">
            <a:extLst>
              <a:ext uri="{FF2B5EF4-FFF2-40B4-BE49-F238E27FC236}">
                <a16:creationId xmlns:a16="http://schemas.microsoft.com/office/drawing/2014/main" id="{E614F94E-D05C-0E02-FD63-35EEF414C036}"/>
              </a:ext>
            </a:extLst>
          </p:cNvPr>
          <p:cNvSpPr txBox="1"/>
          <p:nvPr/>
        </p:nvSpPr>
        <p:spPr>
          <a:xfrm>
            <a:off x="4328313" y="4864609"/>
            <a:ext cx="347472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検査スピード</a:t>
            </a:r>
            <a:endParaRPr lang="en-US" sz="2400" dirty="0"/>
          </a:p>
        </p:txBody>
      </p:sp>
      <p:sp>
        <p:nvSpPr>
          <p:cNvPr id="27" name="Text 8">
            <a:extLst>
              <a:ext uri="{FF2B5EF4-FFF2-40B4-BE49-F238E27FC236}">
                <a16:creationId xmlns:a16="http://schemas.microsoft.com/office/drawing/2014/main" id="{23748173-A600-BA0B-FCD0-7F408294D7DA}"/>
              </a:ext>
            </a:extLst>
          </p:cNvPr>
          <p:cNvSpPr txBox="1"/>
          <p:nvPr/>
        </p:nvSpPr>
        <p:spPr>
          <a:xfrm>
            <a:off x="4328313" y="5367529"/>
            <a:ext cx="3474720" cy="1371600"/>
          </a:xfrm>
          <a:prstGeom prst="rect">
            <a:avLst/>
          </a:prstGeom>
          <a:noFill/>
          <a:ln/>
        </p:spPr>
        <p:txBody>
          <a:bodyPr wrap="square" lIns="0" tIns="0" rIns="0" bIns="0" rtlCol="0" anchor="ctr"/>
          <a:lstStyle/>
          <a:p>
            <a:pPr marL="0" indent="0">
              <a:buNone/>
            </a:pPr>
            <a:r>
              <a:rPr lang="en-US" sz="2000" dirty="0">
                <a:solidFill>
                  <a:srgbClr val="1B2733"/>
                </a:solidFill>
                <a:latin typeface="Calibri" pitchFamily="34" charset="0"/>
                <a:ea typeface="Calibri" pitchFamily="34" charset="-122"/>
                <a:cs typeface="Calibri" pitchFamily="34" charset="-120"/>
              </a:rPr>
              <a:t>検査が遅いと、生産ライン全体の速度を決めてしまう</a:t>
            </a:r>
            <a:endParaRPr lang="en-US" sz="2000" dirty="0"/>
          </a:p>
        </p:txBody>
      </p:sp>
      <p:sp>
        <p:nvSpPr>
          <p:cNvPr id="28" name="Text 9">
            <a:extLst>
              <a:ext uri="{FF2B5EF4-FFF2-40B4-BE49-F238E27FC236}">
                <a16:creationId xmlns:a16="http://schemas.microsoft.com/office/drawing/2014/main" id="{23DC2F70-B453-3B75-42A4-6B7478108EEE}"/>
              </a:ext>
            </a:extLst>
          </p:cNvPr>
          <p:cNvSpPr txBox="1"/>
          <p:nvPr/>
        </p:nvSpPr>
        <p:spPr>
          <a:xfrm>
            <a:off x="8046720" y="4864609"/>
            <a:ext cx="347472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歩留まり・コスト</a:t>
            </a:r>
            <a:endParaRPr lang="en-US" sz="2400" dirty="0"/>
          </a:p>
        </p:txBody>
      </p:sp>
      <p:sp>
        <p:nvSpPr>
          <p:cNvPr id="29" name="Text 10">
            <a:extLst>
              <a:ext uri="{FF2B5EF4-FFF2-40B4-BE49-F238E27FC236}">
                <a16:creationId xmlns:a16="http://schemas.microsoft.com/office/drawing/2014/main" id="{34355E58-A16A-4121-E54D-E4AC160DA61C}"/>
              </a:ext>
            </a:extLst>
          </p:cNvPr>
          <p:cNvSpPr txBox="1"/>
          <p:nvPr/>
        </p:nvSpPr>
        <p:spPr>
          <a:xfrm>
            <a:off x="8046720" y="5367529"/>
            <a:ext cx="3474720" cy="1371600"/>
          </a:xfrm>
          <a:prstGeom prst="rect">
            <a:avLst/>
          </a:prstGeom>
          <a:noFill/>
          <a:ln/>
        </p:spPr>
        <p:txBody>
          <a:bodyPr wrap="square" lIns="0" tIns="0" rIns="0" bIns="0" rtlCol="0" anchor="ctr"/>
          <a:lstStyle/>
          <a:p>
            <a:pPr marL="0" indent="0">
              <a:buNone/>
            </a:pPr>
            <a:r>
              <a:rPr lang="en-US" sz="2000" dirty="0">
                <a:solidFill>
                  <a:srgbClr val="1B2733"/>
                </a:solidFill>
                <a:latin typeface="Calibri" pitchFamily="34" charset="0"/>
                <a:ea typeface="Calibri" pitchFamily="34" charset="-122"/>
                <a:cs typeface="Calibri" pitchFamily="34" charset="-120"/>
              </a:rPr>
              <a:t>異常を早く見つけられるほど、無駄になる製品を減らせる</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err="1">
                <a:solidFill>
                  <a:srgbClr val="1C7293"/>
                </a:solidFill>
                <a:latin typeface="Calibri" pitchFamily="34" charset="0"/>
                <a:ea typeface="Calibri" pitchFamily="34" charset="-122"/>
                <a:cs typeface="Calibri" pitchFamily="34" charset="-120"/>
              </a:rPr>
              <a:t>研究手法</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計算イメージングによる焦点深度拡張(EDOF)</a:t>
            </a:r>
            <a:endParaRPr lang="en-US" sz="3200" dirty="0"/>
          </a:p>
        </p:txBody>
      </p:sp>
      <p:sp>
        <p:nvSpPr>
          <p:cNvPr id="4" name="Text 2"/>
          <p:cNvSpPr txBox="1"/>
          <p:nvPr/>
        </p:nvSpPr>
        <p:spPr>
          <a:xfrm>
            <a:off x="640080" y="1920240"/>
            <a:ext cx="10911535" cy="1554480"/>
          </a:xfrm>
          <a:prstGeom prst="rect">
            <a:avLst/>
          </a:prstGeom>
          <a:noFill/>
          <a:ln/>
        </p:spPr>
        <p:txBody>
          <a:bodyPr wrap="square" lIns="0" tIns="0" rIns="0" bIns="0" rtlCol="0" anchor="t"/>
          <a:lstStyle/>
          <a:p>
            <a:pPr marL="279400" indent="-279400">
              <a:spcAft>
                <a:spcPts val="2200"/>
              </a:spcAft>
              <a:buSzPct val="100000"/>
              <a:buChar char="●"/>
            </a:pPr>
            <a:r>
              <a:rPr lang="en-US" sz="2200" dirty="0">
                <a:solidFill>
                  <a:srgbClr val="1B2733"/>
                </a:solidFill>
                <a:latin typeface="Calibri" pitchFamily="34" charset="0"/>
                <a:ea typeface="Calibri" pitchFamily="34" charset="-122"/>
                <a:cs typeface="Calibri" pitchFamily="34" charset="-120"/>
              </a:rPr>
              <a:t>位相マスクを入れて、シャープさを犠牲にする代わりに、ぼけ方を場所によらず均一にする</a:t>
            </a:r>
            <a:endParaRPr lang="en-US" sz="2200" dirty="0"/>
          </a:p>
          <a:p>
            <a:pPr marL="279400" indent="-279400">
              <a:spcAft>
                <a:spcPts val="2200"/>
              </a:spcAft>
              <a:buSzPct val="100000"/>
              <a:buChar char="●"/>
            </a:pPr>
            <a:r>
              <a:rPr lang="en-US" sz="2200" dirty="0">
                <a:solidFill>
                  <a:srgbClr val="1B2733"/>
                </a:solidFill>
                <a:latin typeface="Calibri" pitchFamily="34" charset="0"/>
                <a:ea typeface="Calibri" pitchFamily="34" charset="-122"/>
                <a:cs typeface="Calibri" pitchFamily="34" charset="-120"/>
              </a:rPr>
              <a:t>均一なぼけをデコンボリューションで復元し、観察できる領域を広げる</a:t>
            </a:r>
            <a:endParaRPr lang="en-US" sz="2200" dirty="0"/>
          </a:p>
        </p:txBody>
      </p:sp>
      <p:sp>
        <p:nvSpPr>
          <p:cNvPr id="5" name="Shape 3"/>
          <p:cNvSpPr/>
          <p:nvPr/>
        </p:nvSpPr>
        <p:spPr>
          <a:xfrm>
            <a:off x="640080" y="3520440"/>
            <a:ext cx="10911535" cy="0"/>
          </a:xfrm>
          <a:prstGeom prst="line">
            <a:avLst/>
          </a:prstGeom>
          <a:noFill/>
          <a:ln w="12700">
            <a:solidFill>
              <a:srgbClr val="D8E1E8"/>
            </a:solidFill>
            <a:prstDash val="solid"/>
          </a:ln>
        </p:spPr>
        <p:txBody>
          <a:bodyPr/>
          <a:lstStyle/>
          <a:p>
            <a:endParaRPr lang="ja-JP" altLang="en-US"/>
          </a:p>
        </p:txBody>
      </p:sp>
      <p:sp>
        <p:nvSpPr>
          <p:cNvPr id="8" name="Shape 6"/>
          <p:cNvSpPr/>
          <p:nvPr/>
        </p:nvSpPr>
        <p:spPr>
          <a:xfrm>
            <a:off x="2276132" y="5122876"/>
            <a:ext cx="2724912" cy="0"/>
          </a:xfrm>
          <a:prstGeom prst="line">
            <a:avLst/>
          </a:prstGeom>
          <a:noFill/>
          <a:ln w="19050">
            <a:solidFill>
              <a:srgbClr val="5A6B7A"/>
            </a:solidFill>
            <a:prstDash val="solid"/>
            <a:tailEnd type="triangle"/>
          </a:ln>
        </p:spPr>
        <p:txBody>
          <a:bodyPr/>
          <a:lstStyle/>
          <a:p>
            <a:endParaRPr lang="ja-JP" altLang="en-US"/>
          </a:p>
        </p:txBody>
      </p:sp>
      <p:sp>
        <p:nvSpPr>
          <p:cNvPr id="9" name="Text 7"/>
          <p:cNvSpPr txBox="1"/>
          <p:nvPr/>
        </p:nvSpPr>
        <p:spPr>
          <a:xfrm>
            <a:off x="2129827" y="4561639"/>
            <a:ext cx="3017520" cy="502920"/>
          </a:xfrm>
          <a:prstGeom prst="rect">
            <a:avLst/>
          </a:prstGeom>
          <a:noFill/>
          <a:ln/>
        </p:spPr>
        <p:txBody>
          <a:bodyPr wrap="square" lIns="0" tIns="0" rIns="0" bIns="0" rtlCol="0" anchor="ctr"/>
          <a:lstStyle/>
          <a:p>
            <a:pPr marL="0" indent="0" algn="ctr">
              <a:buNone/>
            </a:pPr>
            <a:r>
              <a:rPr lang="en-US" sz="2200" b="1" dirty="0" err="1">
                <a:solidFill>
                  <a:srgbClr val="21295C"/>
                </a:solidFill>
                <a:latin typeface="Cambria" pitchFamily="34" charset="0"/>
                <a:ea typeface="Cambria" pitchFamily="34" charset="-122"/>
                <a:cs typeface="Cambria" pitchFamily="34" charset="-120"/>
              </a:rPr>
              <a:t>位相マスクの追加</a:t>
            </a:r>
            <a:endParaRPr lang="en-US" sz="2200" dirty="0"/>
          </a:p>
        </p:txBody>
      </p:sp>
      <p:sp>
        <p:nvSpPr>
          <p:cNvPr id="10" name="Text 8"/>
          <p:cNvSpPr txBox="1"/>
          <p:nvPr/>
        </p:nvSpPr>
        <p:spPr>
          <a:xfrm>
            <a:off x="2555107" y="5122876"/>
            <a:ext cx="2166961" cy="1097280"/>
          </a:xfrm>
          <a:prstGeom prst="rect">
            <a:avLst/>
          </a:prstGeom>
          <a:noFill/>
          <a:ln/>
        </p:spPr>
        <p:txBody>
          <a:bodyPr wrap="square" lIns="0" tIns="0" rIns="0" bIns="0" rtlCol="0" anchor="t"/>
          <a:lstStyle/>
          <a:p>
            <a:pPr marL="0" indent="0" algn="ctr">
              <a:buNone/>
            </a:pPr>
            <a:endParaRPr lang="en-US" sz="2000" dirty="0">
              <a:solidFill>
                <a:srgbClr val="5A6B7A"/>
              </a:solidFill>
              <a:latin typeface="Calibri" pitchFamily="34" charset="0"/>
              <a:ea typeface="Calibri" pitchFamily="34" charset="-122"/>
              <a:cs typeface="Calibri" pitchFamily="34" charset="-120"/>
            </a:endParaRPr>
          </a:p>
          <a:p>
            <a:pPr marL="0" indent="0" algn="ctr">
              <a:buNone/>
            </a:pPr>
            <a:r>
              <a:rPr lang="en-US" sz="2000" dirty="0" err="1">
                <a:solidFill>
                  <a:srgbClr val="5A6B7A"/>
                </a:solidFill>
                <a:latin typeface="Calibri" pitchFamily="34" charset="0"/>
                <a:ea typeface="Calibri" pitchFamily="34" charset="-122"/>
                <a:cs typeface="Calibri" pitchFamily="34" charset="-120"/>
              </a:rPr>
              <a:t>Z方向によらず同じボケ方</a:t>
            </a:r>
            <a:endParaRPr lang="en-US" sz="2000" dirty="0">
              <a:solidFill>
                <a:srgbClr val="5A6B7A"/>
              </a:solidFill>
              <a:latin typeface="Calibri" pitchFamily="34" charset="0"/>
              <a:ea typeface="Calibri" pitchFamily="34" charset="-122"/>
              <a:cs typeface="Calibri" pitchFamily="34" charset="-120"/>
            </a:endParaRPr>
          </a:p>
        </p:txBody>
      </p:sp>
      <p:sp>
        <p:nvSpPr>
          <p:cNvPr id="13" name="Shape 11"/>
          <p:cNvSpPr/>
          <p:nvPr/>
        </p:nvSpPr>
        <p:spPr>
          <a:xfrm>
            <a:off x="7189162" y="5157215"/>
            <a:ext cx="1502893" cy="0"/>
          </a:xfrm>
          <a:prstGeom prst="line">
            <a:avLst/>
          </a:prstGeom>
          <a:noFill/>
          <a:ln w="19050">
            <a:solidFill>
              <a:srgbClr val="5A6B7A"/>
            </a:solidFill>
            <a:prstDash val="solid"/>
            <a:tailEnd type="triangle"/>
          </a:ln>
        </p:spPr>
        <p:txBody>
          <a:bodyPr/>
          <a:lstStyle/>
          <a:p>
            <a:endParaRPr lang="ja-JP" altLang="en-US"/>
          </a:p>
        </p:txBody>
      </p:sp>
      <p:sp>
        <p:nvSpPr>
          <p:cNvPr id="18" name="Text 16"/>
          <p:cNvSpPr txBox="1"/>
          <p:nvPr/>
        </p:nvSpPr>
        <p:spPr>
          <a:xfrm>
            <a:off x="6364812" y="4654295"/>
            <a:ext cx="3017520" cy="502920"/>
          </a:xfrm>
          <a:prstGeom prst="rect">
            <a:avLst/>
          </a:prstGeom>
          <a:noFill/>
          <a:ln/>
        </p:spPr>
        <p:txBody>
          <a:bodyPr wrap="square" lIns="0" tIns="0" rIns="0" bIns="0" rtlCol="0" anchor="ctr"/>
          <a:lstStyle/>
          <a:p>
            <a:pPr marL="0" indent="0" algn="ctr">
              <a:buNone/>
            </a:pPr>
            <a:r>
              <a:rPr lang="en-US" sz="2000" b="1" dirty="0" err="1">
                <a:solidFill>
                  <a:srgbClr val="21295C"/>
                </a:solidFill>
                <a:latin typeface="Cambria" pitchFamily="34" charset="0"/>
                <a:ea typeface="Cambria" pitchFamily="34" charset="-122"/>
                <a:cs typeface="Cambria" pitchFamily="34" charset="-120"/>
              </a:rPr>
              <a:t>復元</a:t>
            </a:r>
            <a:endParaRPr lang="en-US" sz="2000" b="1" dirty="0">
              <a:solidFill>
                <a:srgbClr val="21295C"/>
              </a:solidFill>
              <a:latin typeface="Cambria" pitchFamily="34" charset="0"/>
              <a:ea typeface="Cambria" pitchFamily="34" charset="-122"/>
              <a:cs typeface="Cambria" pitchFamily="34" charset="-120"/>
            </a:endParaRPr>
          </a:p>
        </p:txBody>
      </p:sp>
      <p:sp>
        <p:nvSpPr>
          <p:cNvPr id="19" name="Text 17"/>
          <p:cNvSpPr txBox="1"/>
          <p:nvPr/>
        </p:nvSpPr>
        <p:spPr>
          <a:xfrm>
            <a:off x="6619373" y="5257800"/>
            <a:ext cx="2545648" cy="109728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1つの計算で</a:t>
            </a:r>
          </a:p>
          <a:p>
            <a:pPr marL="0" indent="0" algn="ctr">
              <a:buNone/>
            </a:pPr>
            <a:r>
              <a:rPr lang="en-US" sz="2000" dirty="0" err="1">
                <a:solidFill>
                  <a:srgbClr val="5A6B7A"/>
                </a:solidFill>
                <a:latin typeface="Calibri" pitchFamily="34" charset="0"/>
                <a:ea typeface="Calibri" pitchFamily="34" charset="-122"/>
                <a:cs typeface="Calibri" pitchFamily="34" charset="-120"/>
              </a:rPr>
              <a:t>全体を復元</a:t>
            </a:r>
            <a:endParaRPr lang="en-US" sz="2000" dirty="0"/>
          </a:p>
        </p:txBody>
      </p:sp>
      <p:sp>
        <p:nvSpPr>
          <p:cNvPr id="21" name="Text 1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4</a:t>
            </a:r>
            <a:endParaRPr lang="en-US" sz="2000" dirty="0"/>
          </a:p>
        </p:txBody>
      </p:sp>
      <p:pic>
        <p:nvPicPr>
          <p:cNvPr id="23" name="図 22">
            <a:extLst>
              <a:ext uri="{FF2B5EF4-FFF2-40B4-BE49-F238E27FC236}">
                <a16:creationId xmlns:a16="http://schemas.microsoft.com/office/drawing/2014/main" id="{117564B2-6EE3-C81F-60E2-769F1E3A3559}"/>
              </a:ext>
            </a:extLst>
          </p:cNvPr>
          <p:cNvPicPr>
            <a:picLocks noChangeAspect="1"/>
          </p:cNvPicPr>
          <p:nvPr/>
        </p:nvPicPr>
        <p:blipFill>
          <a:blip r:embed="rId3"/>
          <a:stretch>
            <a:fillRect/>
          </a:stretch>
        </p:blipFill>
        <p:spPr>
          <a:xfrm>
            <a:off x="181059" y="4094275"/>
            <a:ext cx="2166961" cy="2125881"/>
          </a:xfrm>
          <a:prstGeom prst="rect">
            <a:avLst/>
          </a:prstGeom>
        </p:spPr>
      </p:pic>
      <p:pic>
        <p:nvPicPr>
          <p:cNvPr id="25" name="図 24">
            <a:extLst>
              <a:ext uri="{FF2B5EF4-FFF2-40B4-BE49-F238E27FC236}">
                <a16:creationId xmlns:a16="http://schemas.microsoft.com/office/drawing/2014/main" id="{7DB307C9-9ABF-F08B-08E1-6F36EBF06721}"/>
              </a:ext>
            </a:extLst>
          </p:cNvPr>
          <p:cNvPicPr>
            <a:picLocks noChangeAspect="1"/>
          </p:cNvPicPr>
          <p:nvPr/>
        </p:nvPicPr>
        <p:blipFill>
          <a:blip r:embed="rId4"/>
          <a:stretch>
            <a:fillRect/>
          </a:stretch>
        </p:blipFill>
        <p:spPr>
          <a:xfrm>
            <a:off x="5074245" y="4135613"/>
            <a:ext cx="2043204" cy="2043204"/>
          </a:xfrm>
          <a:prstGeom prst="rect">
            <a:avLst/>
          </a:prstGeom>
        </p:spPr>
      </p:pic>
      <p:pic>
        <p:nvPicPr>
          <p:cNvPr id="27" name="図 26">
            <a:extLst>
              <a:ext uri="{FF2B5EF4-FFF2-40B4-BE49-F238E27FC236}">
                <a16:creationId xmlns:a16="http://schemas.microsoft.com/office/drawing/2014/main" id="{D341EB5C-AE06-B55B-55BA-3E44E5FA470E}"/>
              </a:ext>
            </a:extLst>
          </p:cNvPr>
          <p:cNvPicPr>
            <a:picLocks noChangeAspect="1"/>
          </p:cNvPicPr>
          <p:nvPr/>
        </p:nvPicPr>
        <p:blipFill>
          <a:blip r:embed="rId5"/>
          <a:stretch>
            <a:fillRect/>
          </a:stretch>
        </p:blipFill>
        <p:spPr>
          <a:xfrm>
            <a:off x="8993421" y="4101274"/>
            <a:ext cx="2043203" cy="20432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AF34-101A-14DC-FEF3-6E241C329D47}"/>
            </a:ext>
          </a:extLst>
        </p:cNvPr>
        <p:cNvGrpSpPr/>
        <p:nvPr/>
      </p:nvGrpSpPr>
      <p:grpSpPr>
        <a:xfrm>
          <a:off x="0" y="0"/>
          <a:ext cx="0" cy="0"/>
          <a:chOff x="0" y="0"/>
          <a:chExt cx="0" cy="0"/>
        </a:xfrm>
      </p:grpSpPr>
      <p:sp>
        <p:nvSpPr>
          <p:cNvPr id="7" name="Text 0">
            <a:extLst>
              <a:ext uri="{FF2B5EF4-FFF2-40B4-BE49-F238E27FC236}">
                <a16:creationId xmlns:a16="http://schemas.microsoft.com/office/drawing/2014/main" id="{6326CE7F-C704-F0BB-50B0-714AD74083D2}"/>
              </a:ext>
            </a:extLst>
          </p:cNvPr>
          <p:cNvSpPr txBox="1"/>
          <p:nvPr/>
        </p:nvSpPr>
        <p:spPr>
          <a:xfrm>
            <a:off x="0" y="2743200"/>
            <a:ext cx="12191695" cy="822960"/>
          </a:xfrm>
          <a:prstGeom prst="rect">
            <a:avLst/>
          </a:prstGeom>
          <a:noFill/>
          <a:ln/>
        </p:spPr>
        <p:txBody>
          <a:bodyPr wrap="square" lIns="0" tIns="0" rIns="0" bIns="0" rtlCol="0" anchor="ctr"/>
          <a:lstStyle/>
          <a:p>
            <a:pPr marL="0" indent="0" algn="ctr">
              <a:buNone/>
            </a:pPr>
            <a:r>
              <a:rPr lang="en-US" sz="4000" b="1" dirty="0">
                <a:latin typeface="Cambria" pitchFamily="34" charset="0"/>
                <a:ea typeface="Cambria" pitchFamily="34" charset="-122"/>
                <a:cs typeface="Cambria" pitchFamily="34" charset="-120"/>
              </a:rPr>
              <a:t>進捗報告</a:t>
            </a:r>
            <a:endParaRPr lang="en-US" sz="4000" dirty="0"/>
          </a:p>
        </p:txBody>
      </p:sp>
      <p:sp>
        <p:nvSpPr>
          <p:cNvPr id="8" name="Text 1">
            <a:extLst>
              <a:ext uri="{FF2B5EF4-FFF2-40B4-BE49-F238E27FC236}">
                <a16:creationId xmlns:a16="http://schemas.microsoft.com/office/drawing/2014/main" id="{7C20F574-4586-5E2D-764C-C4633778CA29}"/>
              </a:ext>
            </a:extLst>
          </p:cNvPr>
          <p:cNvSpPr txBox="1"/>
          <p:nvPr/>
        </p:nvSpPr>
        <p:spPr>
          <a:xfrm>
            <a:off x="0" y="3657600"/>
            <a:ext cx="12191695" cy="457200"/>
          </a:xfrm>
          <a:prstGeom prst="rect">
            <a:avLst/>
          </a:prstGeom>
          <a:noFill/>
          <a:ln/>
        </p:spPr>
        <p:txBody>
          <a:bodyPr wrap="square" lIns="0" tIns="0" rIns="0" bIns="0" rtlCol="0" anchor="ctr"/>
          <a:lstStyle/>
          <a:p>
            <a:pPr marL="0" indent="0" algn="ctr">
              <a:buNone/>
            </a:pPr>
            <a:r>
              <a:rPr lang="en-US" sz="2400" dirty="0">
                <a:latin typeface="Calibri" pitchFamily="34" charset="0"/>
                <a:ea typeface="Calibri" pitchFamily="34" charset="-122"/>
                <a:cs typeface="Calibri" pitchFamily="34" charset="-120"/>
              </a:rPr>
              <a:t>2026年4月 〜 8月</a:t>
            </a:r>
            <a:endParaRPr lang="en-US" sz="2400" dirty="0"/>
          </a:p>
        </p:txBody>
      </p:sp>
    </p:spTree>
    <p:extLst>
      <p:ext uri="{BB962C8B-B14F-4D97-AF65-F5344CB8AC3E}">
        <p14:creationId xmlns:p14="http://schemas.microsoft.com/office/powerpoint/2010/main" val="86803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進捗報告 ①</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err="1">
                <a:solidFill>
                  <a:srgbClr val="21295C"/>
                </a:solidFill>
                <a:latin typeface="Cambria" pitchFamily="34" charset="0"/>
                <a:ea typeface="Cambria" pitchFamily="34" charset="-122"/>
                <a:cs typeface="Cambria" pitchFamily="34" charset="-120"/>
              </a:rPr>
              <a:t>古典的な計算イメージング手法の理解・習得</a:t>
            </a:r>
            <a:endParaRPr lang="en-US" sz="3200" dirty="0"/>
          </a:p>
        </p:txBody>
      </p:sp>
      <p:sp>
        <p:nvSpPr>
          <p:cNvPr id="4" name="Text 2"/>
          <p:cNvSpPr txBox="1"/>
          <p:nvPr/>
        </p:nvSpPr>
        <p:spPr>
          <a:xfrm>
            <a:off x="640080" y="2103120"/>
            <a:ext cx="10911535" cy="3840480"/>
          </a:xfrm>
          <a:prstGeom prst="rect">
            <a:avLst/>
          </a:prstGeom>
          <a:noFill/>
          <a:ln/>
        </p:spPr>
        <p:txBody>
          <a:bodyPr wrap="square" lIns="0" tIns="0" rIns="0" bIns="0" rtlCol="0" anchor="t"/>
          <a:lstStyle/>
          <a:p>
            <a:pPr marL="279400" indent="-279400">
              <a:spcAft>
                <a:spcPts val="3000"/>
              </a:spcAft>
              <a:buSzPct val="100000"/>
              <a:buChar char="●"/>
            </a:pPr>
            <a:r>
              <a:rPr lang="en-US" sz="2400" dirty="0">
                <a:solidFill>
                  <a:srgbClr val="1B2733"/>
                </a:solidFill>
                <a:latin typeface="Calibri" pitchFamily="34" charset="0"/>
                <a:ea typeface="Calibri" pitchFamily="34" charset="-122"/>
                <a:cs typeface="Calibri" pitchFamily="34" charset="-120"/>
              </a:rPr>
              <a:t>光の伝わり方と結像の基礎から学び、位相マスクでぼけ方を一定にする考え方を理解した</a:t>
            </a:r>
            <a:endParaRPr lang="en-US" sz="2400" dirty="0"/>
          </a:p>
          <a:p>
            <a:pPr marL="279400" indent="-279400">
              <a:spcAft>
                <a:spcPts val="3000"/>
              </a:spcAft>
              <a:buSzPct val="100000"/>
              <a:buChar char="●"/>
            </a:pPr>
            <a:r>
              <a:rPr lang="en-US" sz="2400" dirty="0">
                <a:solidFill>
                  <a:srgbClr val="1B2733"/>
                </a:solidFill>
                <a:latin typeface="Calibri" pitchFamily="34" charset="0"/>
                <a:ea typeface="Calibri" pitchFamily="34" charset="-122"/>
                <a:cs typeface="Calibri" pitchFamily="34" charset="-120"/>
              </a:rPr>
              <a:t>一度だけ測ったぼけ方の情報を使えば、計算でまとめてピントを復元できる</a:t>
            </a:r>
            <a:endParaRPr lang="en-US" sz="2400" dirty="0"/>
          </a:p>
          <a:p>
            <a:pPr marL="279400" indent="-279400">
              <a:spcAft>
                <a:spcPts val="3000"/>
              </a:spcAft>
              <a:buSzPct val="100000"/>
              <a:buChar char="●"/>
            </a:pPr>
            <a:r>
              <a:rPr lang="en-US" sz="2400" dirty="0">
                <a:solidFill>
                  <a:srgbClr val="1B2733"/>
                </a:solidFill>
                <a:latin typeface="Calibri" pitchFamily="34" charset="0"/>
                <a:ea typeface="Calibri" pitchFamily="34" charset="-122"/>
                <a:cs typeface="Calibri" pitchFamily="34" charset="-120"/>
              </a:rPr>
              <a:t>まずは斜め照射ではなく、通常の光学系を対象にシミュレーションで確かめることにした</a:t>
            </a:r>
            <a:endParaRPr lang="en-US" sz="2400" dirty="0"/>
          </a:p>
        </p:txBody>
      </p:sp>
      <p:sp>
        <p:nvSpPr>
          <p:cNvPr id="5" name="Text 3"/>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進捗報告 ②</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err="1">
                <a:solidFill>
                  <a:srgbClr val="21295C"/>
                </a:solidFill>
                <a:latin typeface="Cambria" pitchFamily="34" charset="0"/>
                <a:ea typeface="Cambria" pitchFamily="34" charset="-122"/>
                <a:cs typeface="Cambria" pitchFamily="34" charset="-120"/>
              </a:rPr>
              <a:t>先行研究の再現シミュレーション</a:t>
            </a:r>
            <a:endParaRPr lang="en-US" sz="3200" dirty="0"/>
          </a:p>
        </p:txBody>
      </p:sp>
      <p:sp>
        <p:nvSpPr>
          <p:cNvPr id="4" name="Text 2"/>
          <p:cNvSpPr txBox="1"/>
          <p:nvPr/>
        </p:nvSpPr>
        <p:spPr>
          <a:xfrm>
            <a:off x="640080" y="1965960"/>
            <a:ext cx="10911535" cy="457200"/>
          </a:xfrm>
          <a:prstGeom prst="rect">
            <a:avLst/>
          </a:prstGeom>
          <a:noFill/>
          <a:ln/>
        </p:spPr>
        <p:txBody>
          <a:bodyPr wrap="square" lIns="0" tIns="0" rIns="0" bIns="0" rtlCol="0" anchor="ctr"/>
          <a:lstStyle/>
          <a:p>
            <a:pPr marL="0" indent="0">
              <a:buNone/>
            </a:pPr>
            <a:r>
              <a:rPr lang="en-US" sz="2200" b="1" dirty="0">
                <a:solidFill>
                  <a:srgbClr val="21295C"/>
                </a:solidFill>
                <a:latin typeface="Calibri" pitchFamily="34" charset="0"/>
                <a:ea typeface="Calibri" pitchFamily="34" charset="-122"/>
                <a:cs typeface="Calibri" pitchFamily="34" charset="-120"/>
              </a:rPr>
              <a:t>対象:  </a:t>
            </a:r>
            <a:r>
              <a:rPr lang="en-US" sz="2200" dirty="0">
                <a:solidFill>
                  <a:srgbClr val="1B2733"/>
                </a:solidFill>
                <a:latin typeface="Calibri" pitchFamily="34" charset="0"/>
                <a:ea typeface="Calibri" pitchFamily="34" charset="-122"/>
                <a:cs typeface="Calibri" pitchFamily="34" charset="-120"/>
              </a:rPr>
              <a:t>J. Chang, "Extended Depth of Field for Fluorescence Microscopy"</a:t>
            </a:r>
            <a:r>
              <a:rPr lang="en-US" sz="2200" dirty="0">
                <a:solidFill>
                  <a:srgbClr val="5A6B7A"/>
                </a:solidFill>
                <a:latin typeface="Calibri" pitchFamily="34" charset="0"/>
                <a:ea typeface="Calibri" pitchFamily="34" charset="-122"/>
                <a:cs typeface="Calibri" pitchFamily="34" charset="-120"/>
              </a:rPr>
              <a:t>  (Stanford EE367)</a:t>
            </a:r>
            <a:endParaRPr lang="en-US" sz="2200" dirty="0"/>
          </a:p>
        </p:txBody>
      </p:sp>
      <p:sp>
        <p:nvSpPr>
          <p:cNvPr id="5" name="Text 3"/>
          <p:cNvSpPr txBox="1"/>
          <p:nvPr/>
        </p:nvSpPr>
        <p:spPr>
          <a:xfrm>
            <a:off x="640080" y="2468880"/>
            <a:ext cx="10911535" cy="457200"/>
          </a:xfrm>
          <a:prstGeom prst="rect">
            <a:avLst/>
          </a:prstGeom>
          <a:noFill/>
          <a:ln/>
        </p:spPr>
        <p:txBody>
          <a:bodyPr wrap="square" lIns="0" tIns="0" rIns="0" bIns="0" rtlCol="0" anchor="ctr"/>
          <a:lstStyle/>
          <a:p>
            <a:pPr marL="0" indent="0">
              <a:buNone/>
            </a:pPr>
            <a:r>
              <a:rPr lang="en-US" sz="2200" dirty="0">
                <a:solidFill>
                  <a:srgbClr val="1B2733"/>
                </a:solidFill>
                <a:latin typeface="Calibri" pitchFamily="34" charset="0"/>
                <a:ea typeface="Calibri" pitchFamily="34" charset="-122"/>
                <a:cs typeface="Calibri" pitchFamily="34" charset="-120"/>
              </a:rPr>
              <a:t>位相マスクによる焦点深度拡張を実験的に示したレポートを、一から実装して再現した</a:t>
            </a:r>
            <a:endParaRPr lang="en-US" sz="2200" dirty="0"/>
          </a:p>
        </p:txBody>
      </p:sp>
      <p:sp>
        <p:nvSpPr>
          <p:cNvPr id="6" name="Shape 4"/>
          <p:cNvSpPr/>
          <p:nvPr/>
        </p:nvSpPr>
        <p:spPr>
          <a:xfrm>
            <a:off x="640080" y="3200400"/>
            <a:ext cx="10911535" cy="0"/>
          </a:xfrm>
          <a:prstGeom prst="line">
            <a:avLst/>
          </a:prstGeom>
          <a:noFill/>
          <a:ln w="12700">
            <a:solidFill>
              <a:srgbClr val="D8E1E8"/>
            </a:solidFill>
            <a:prstDash val="solid"/>
          </a:ln>
        </p:spPr>
        <p:txBody>
          <a:bodyPr/>
          <a:lstStyle/>
          <a:p>
            <a:endParaRPr lang="ja-JP" altLang="en-US"/>
          </a:p>
        </p:txBody>
      </p:sp>
      <p:sp>
        <p:nvSpPr>
          <p:cNvPr id="7" name="Shape 5"/>
          <p:cNvSpPr/>
          <p:nvPr/>
        </p:nvSpPr>
        <p:spPr>
          <a:xfrm>
            <a:off x="2200504" y="3566160"/>
            <a:ext cx="658368" cy="658368"/>
          </a:xfrm>
          <a:prstGeom prst="ellipse">
            <a:avLst/>
          </a:prstGeom>
          <a:solidFill>
            <a:srgbClr val="FFFFFF"/>
          </a:solidFill>
          <a:ln w="25400">
            <a:solidFill>
              <a:srgbClr val="1C7293"/>
            </a:solidFill>
            <a:prstDash val="solid"/>
          </a:ln>
        </p:spPr>
        <p:txBody>
          <a:bodyPr/>
          <a:lstStyle/>
          <a:p>
            <a:endParaRPr lang="ja-JP" altLang="en-US"/>
          </a:p>
        </p:txBody>
      </p:sp>
      <p:sp>
        <p:nvSpPr>
          <p:cNvPr id="8" name="Text 6"/>
          <p:cNvSpPr txBox="1"/>
          <p:nvPr/>
        </p:nvSpPr>
        <p:spPr>
          <a:xfrm>
            <a:off x="2200504" y="3566160"/>
            <a:ext cx="658368" cy="658368"/>
          </a:xfrm>
          <a:prstGeom prst="rect">
            <a:avLst/>
          </a:prstGeom>
          <a:noFill/>
          <a:ln/>
        </p:spPr>
        <p:txBody>
          <a:bodyPr wrap="square" lIns="0" tIns="0" rIns="0" bIns="0"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1</a:t>
            </a:r>
            <a:endParaRPr lang="en-US" sz="2200" dirty="0"/>
          </a:p>
        </p:txBody>
      </p:sp>
      <p:sp>
        <p:nvSpPr>
          <p:cNvPr id="9" name="Shape 7"/>
          <p:cNvSpPr/>
          <p:nvPr/>
        </p:nvSpPr>
        <p:spPr>
          <a:xfrm>
            <a:off x="2950312" y="3895344"/>
            <a:ext cx="2724912" cy="0"/>
          </a:xfrm>
          <a:prstGeom prst="line">
            <a:avLst/>
          </a:prstGeom>
          <a:noFill/>
          <a:ln w="19050">
            <a:solidFill>
              <a:srgbClr val="5A6B7A"/>
            </a:solidFill>
            <a:prstDash val="solid"/>
            <a:tailEnd type="triangle"/>
          </a:ln>
        </p:spPr>
        <p:txBody>
          <a:bodyPr/>
          <a:lstStyle/>
          <a:p>
            <a:endParaRPr lang="ja-JP" altLang="en-US"/>
          </a:p>
        </p:txBody>
      </p:sp>
      <p:sp>
        <p:nvSpPr>
          <p:cNvPr id="10" name="Text 8"/>
          <p:cNvSpPr txBox="1"/>
          <p:nvPr/>
        </p:nvSpPr>
        <p:spPr>
          <a:xfrm>
            <a:off x="1020928" y="4425696"/>
            <a:ext cx="3017520" cy="502920"/>
          </a:xfrm>
          <a:prstGeom prst="rect">
            <a:avLst/>
          </a:prstGeom>
          <a:noFill/>
          <a:ln/>
        </p:spPr>
        <p:txBody>
          <a:bodyPr wrap="square" lIns="0" tIns="0" rIns="0" bIns="0" rtlCol="0" anchor="ctr"/>
          <a:lstStyle/>
          <a:p>
            <a:pPr marL="0" indent="0" algn="ctr">
              <a:buNone/>
            </a:pPr>
            <a:r>
              <a:rPr lang="en-US" sz="2200" b="1" dirty="0">
                <a:solidFill>
                  <a:srgbClr val="21295C"/>
                </a:solidFill>
                <a:latin typeface="Cambria" pitchFamily="34" charset="0"/>
                <a:ea typeface="Cambria" pitchFamily="34" charset="-122"/>
                <a:cs typeface="Cambria" pitchFamily="34" charset="-120"/>
              </a:rPr>
              <a:t>ぼけを再現</a:t>
            </a:r>
            <a:endParaRPr lang="en-US" sz="2200" dirty="0"/>
          </a:p>
        </p:txBody>
      </p:sp>
      <p:sp>
        <p:nvSpPr>
          <p:cNvPr id="11" name="Text 9"/>
          <p:cNvSpPr txBox="1"/>
          <p:nvPr/>
        </p:nvSpPr>
        <p:spPr>
          <a:xfrm>
            <a:off x="1020928" y="5001768"/>
            <a:ext cx="3017520" cy="109728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マスクなしの光学系で</a:t>
            </a:r>
            <a:endParaRPr lang="en-US" sz="2000" dirty="0"/>
          </a:p>
          <a:p>
            <a:pPr marL="0" indent="0" algn="ctr">
              <a:buNone/>
            </a:pPr>
            <a:r>
              <a:rPr lang="en-US" sz="2000" dirty="0">
                <a:solidFill>
                  <a:srgbClr val="5A6B7A"/>
                </a:solidFill>
                <a:latin typeface="Calibri" pitchFamily="34" charset="0"/>
                <a:ea typeface="Calibri" pitchFamily="34" charset="-122"/>
                <a:cs typeface="Calibri" pitchFamily="34" charset="-120"/>
              </a:rPr>
              <a:t>ぼけ方を計算</a:t>
            </a:r>
            <a:endParaRPr lang="en-US" sz="2000" dirty="0"/>
          </a:p>
        </p:txBody>
      </p:sp>
      <p:sp>
        <p:nvSpPr>
          <p:cNvPr id="12" name="Shape 10"/>
          <p:cNvSpPr/>
          <p:nvPr/>
        </p:nvSpPr>
        <p:spPr>
          <a:xfrm>
            <a:off x="5766664" y="3566160"/>
            <a:ext cx="658368" cy="658368"/>
          </a:xfrm>
          <a:prstGeom prst="ellipse">
            <a:avLst/>
          </a:prstGeom>
          <a:solidFill>
            <a:srgbClr val="FFFFFF"/>
          </a:solidFill>
          <a:ln w="25400">
            <a:solidFill>
              <a:srgbClr val="1C7293"/>
            </a:solidFill>
            <a:prstDash val="solid"/>
          </a:ln>
        </p:spPr>
        <p:txBody>
          <a:bodyPr/>
          <a:lstStyle/>
          <a:p>
            <a:endParaRPr lang="ja-JP" altLang="en-US"/>
          </a:p>
        </p:txBody>
      </p:sp>
      <p:sp>
        <p:nvSpPr>
          <p:cNvPr id="13" name="Text 11"/>
          <p:cNvSpPr txBox="1"/>
          <p:nvPr/>
        </p:nvSpPr>
        <p:spPr>
          <a:xfrm>
            <a:off x="5766664" y="3566160"/>
            <a:ext cx="658368" cy="658368"/>
          </a:xfrm>
          <a:prstGeom prst="rect">
            <a:avLst/>
          </a:prstGeom>
          <a:noFill/>
          <a:ln/>
        </p:spPr>
        <p:txBody>
          <a:bodyPr wrap="square" lIns="0" tIns="0" rIns="0" bIns="0"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2</a:t>
            </a:r>
            <a:endParaRPr lang="en-US" sz="2200" dirty="0"/>
          </a:p>
        </p:txBody>
      </p:sp>
      <p:sp>
        <p:nvSpPr>
          <p:cNvPr id="14" name="Shape 12"/>
          <p:cNvSpPr/>
          <p:nvPr/>
        </p:nvSpPr>
        <p:spPr>
          <a:xfrm>
            <a:off x="6516472" y="3895344"/>
            <a:ext cx="2724912" cy="0"/>
          </a:xfrm>
          <a:prstGeom prst="line">
            <a:avLst/>
          </a:prstGeom>
          <a:noFill/>
          <a:ln w="19050">
            <a:solidFill>
              <a:srgbClr val="5A6B7A"/>
            </a:solidFill>
            <a:prstDash val="solid"/>
            <a:tailEnd type="triangle"/>
          </a:ln>
        </p:spPr>
        <p:txBody>
          <a:bodyPr/>
          <a:lstStyle/>
          <a:p>
            <a:endParaRPr lang="ja-JP" altLang="en-US"/>
          </a:p>
        </p:txBody>
      </p:sp>
      <p:sp>
        <p:nvSpPr>
          <p:cNvPr id="15" name="Text 13"/>
          <p:cNvSpPr txBox="1"/>
          <p:nvPr/>
        </p:nvSpPr>
        <p:spPr>
          <a:xfrm>
            <a:off x="4587088" y="4425696"/>
            <a:ext cx="3017520" cy="502920"/>
          </a:xfrm>
          <a:prstGeom prst="rect">
            <a:avLst/>
          </a:prstGeom>
          <a:noFill/>
          <a:ln/>
        </p:spPr>
        <p:txBody>
          <a:bodyPr wrap="square" lIns="0" tIns="0" rIns="0" bIns="0" rtlCol="0" anchor="ctr"/>
          <a:lstStyle/>
          <a:p>
            <a:pPr marL="0" indent="0" algn="ctr">
              <a:buNone/>
            </a:pPr>
            <a:r>
              <a:rPr lang="en-US" sz="2200" b="1" dirty="0">
                <a:solidFill>
                  <a:srgbClr val="21295C"/>
                </a:solidFill>
                <a:latin typeface="Cambria" pitchFamily="34" charset="0"/>
                <a:ea typeface="Cambria" pitchFamily="34" charset="-122"/>
                <a:cs typeface="Cambria" pitchFamily="34" charset="-120"/>
              </a:rPr>
              <a:t>マスクを追加</a:t>
            </a:r>
            <a:endParaRPr lang="en-US" sz="2200" dirty="0"/>
          </a:p>
        </p:txBody>
      </p:sp>
      <p:sp>
        <p:nvSpPr>
          <p:cNvPr id="16" name="Text 14"/>
          <p:cNvSpPr txBox="1"/>
          <p:nvPr/>
        </p:nvSpPr>
        <p:spPr>
          <a:xfrm>
            <a:off x="4587088" y="5001768"/>
            <a:ext cx="3017520" cy="109728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位相マスクを入れて</a:t>
            </a:r>
            <a:endParaRPr lang="en-US" sz="2000" dirty="0"/>
          </a:p>
          <a:p>
            <a:pPr marL="0" indent="0" algn="ctr">
              <a:buNone/>
            </a:pPr>
            <a:r>
              <a:rPr lang="en-US" sz="2000" dirty="0">
                <a:solidFill>
                  <a:srgbClr val="5A6B7A"/>
                </a:solidFill>
                <a:latin typeface="Calibri" pitchFamily="34" charset="0"/>
                <a:ea typeface="Calibri" pitchFamily="34" charset="-122"/>
                <a:cs typeface="Calibri" pitchFamily="34" charset="-120"/>
              </a:rPr>
              <a:t>ぼけ方の変化を確認</a:t>
            </a:r>
            <a:endParaRPr lang="en-US" sz="2000" dirty="0"/>
          </a:p>
        </p:txBody>
      </p:sp>
      <p:sp>
        <p:nvSpPr>
          <p:cNvPr id="17" name="Shape 15"/>
          <p:cNvSpPr/>
          <p:nvPr/>
        </p:nvSpPr>
        <p:spPr>
          <a:xfrm>
            <a:off x="9332824" y="3566160"/>
            <a:ext cx="658368" cy="658368"/>
          </a:xfrm>
          <a:prstGeom prst="ellipse">
            <a:avLst/>
          </a:prstGeom>
          <a:solidFill>
            <a:srgbClr val="FFFFFF"/>
          </a:solidFill>
          <a:ln w="25400">
            <a:solidFill>
              <a:srgbClr val="1C7293"/>
            </a:solidFill>
            <a:prstDash val="solid"/>
          </a:ln>
        </p:spPr>
        <p:txBody>
          <a:bodyPr/>
          <a:lstStyle/>
          <a:p>
            <a:endParaRPr lang="ja-JP" altLang="en-US"/>
          </a:p>
        </p:txBody>
      </p:sp>
      <p:sp>
        <p:nvSpPr>
          <p:cNvPr id="18" name="Text 16"/>
          <p:cNvSpPr txBox="1"/>
          <p:nvPr/>
        </p:nvSpPr>
        <p:spPr>
          <a:xfrm>
            <a:off x="9332824" y="3566160"/>
            <a:ext cx="658368" cy="658368"/>
          </a:xfrm>
          <a:prstGeom prst="rect">
            <a:avLst/>
          </a:prstGeom>
          <a:noFill/>
          <a:ln/>
        </p:spPr>
        <p:txBody>
          <a:bodyPr wrap="square" lIns="0" tIns="0" rIns="0" bIns="0"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3</a:t>
            </a:r>
            <a:endParaRPr lang="en-US" sz="2200" dirty="0"/>
          </a:p>
        </p:txBody>
      </p:sp>
      <p:sp>
        <p:nvSpPr>
          <p:cNvPr id="19" name="Text 17"/>
          <p:cNvSpPr txBox="1"/>
          <p:nvPr/>
        </p:nvSpPr>
        <p:spPr>
          <a:xfrm>
            <a:off x="8153248" y="4425696"/>
            <a:ext cx="3017520" cy="502920"/>
          </a:xfrm>
          <a:prstGeom prst="rect">
            <a:avLst/>
          </a:prstGeom>
          <a:noFill/>
          <a:ln/>
        </p:spPr>
        <p:txBody>
          <a:bodyPr wrap="square" lIns="0" tIns="0" rIns="0" bIns="0" rtlCol="0" anchor="ctr"/>
          <a:lstStyle/>
          <a:p>
            <a:pPr marL="0" indent="0" algn="ctr">
              <a:buNone/>
            </a:pPr>
            <a:r>
              <a:rPr lang="en-US" sz="2200" b="1" dirty="0">
                <a:solidFill>
                  <a:srgbClr val="21295C"/>
                </a:solidFill>
                <a:latin typeface="Cambria" pitchFamily="34" charset="0"/>
                <a:ea typeface="Cambria" pitchFamily="34" charset="-122"/>
                <a:cs typeface="Cambria" pitchFamily="34" charset="-120"/>
              </a:rPr>
              <a:t>復元して評価</a:t>
            </a:r>
            <a:endParaRPr lang="en-US" sz="2200" dirty="0"/>
          </a:p>
        </p:txBody>
      </p:sp>
      <p:sp>
        <p:nvSpPr>
          <p:cNvPr id="20" name="Text 18"/>
          <p:cNvSpPr txBox="1"/>
          <p:nvPr/>
        </p:nvSpPr>
        <p:spPr>
          <a:xfrm>
            <a:off x="8153248" y="5001768"/>
            <a:ext cx="3017520" cy="1097280"/>
          </a:xfrm>
          <a:prstGeom prst="rect">
            <a:avLst/>
          </a:prstGeom>
          <a:noFill/>
          <a:ln/>
        </p:spPr>
        <p:txBody>
          <a:bodyPr wrap="square" lIns="0" tIns="0" rIns="0" bIns="0" rtlCol="0" anchor="t"/>
          <a:lstStyle/>
          <a:p>
            <a:pPr marL="0" indent="0" algn="ctr">
              <a:buNone/>
            </a:pPr>
            <a:r>
              <a:rPr lang="en-US" sz="2000" dirty="0">
                <a:solidFill>
                  <a:srgbClr val="5A6B7A"/>
                </a:solidFill>
                <a:latin typeface="Calibri" pitchFamily="34" charset="0"/>
                <a:ea typeface="Calibri" pitchFamily="34" charset="-122"/>
                <a:cs typeface="Calibri" pitchFamily="34" charset="-120"/>
              </a:rPr>
              <a:t>計算でピントを復元し</a:t>
            </a:r>
            <a:endParaRPr lang="en-US" sz="2000" dirty="0"/>
          </a:p>
          <a:p>
            <a:pPr marL="0" indent="0" algn="ctr">
              <a:buNone/>
            </a:pPr>
            <a:r>
              <a:rPr lang="en-US" sz="2000" dirty="0">
                <a:solidFill>
                  <a:srgbClr val="5A6B7A"/>
                </a:solidFill>
                <a:latin typeface="Calibri" pitchFamily="34" charset="0"/>
                <a:ea typeface="Calibri" pitchFamily="34" charset="-122"/>
                <a:cs typeface="Calibri" pitchFamily="34" charset="-120"/>
              </a:rPr>
              <a:t>2通りの方法で評価</a:t>
            </a:r>
            <a:endParaRPr lang="en-US" sz="2000" dirty="0"/>
          </a:p>
        </p:txBody>
      </p:sp>
      <p:sp>
        <p:nvSpPr>
          <p:cNvPr id="21" name="Text 1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結果 ①</a:t>
            </a:r>
            <a:endParaRPr lang="en-US" sz="2000" dirty="0"/>
          </a:p>
        </p:txBody>
      </p:sp>
      <p:sp>
        <p:nvSpPr>
          <p:cNvPr id="3" name="Text 1"/>
          <p:cNvSpPr txBox="1"/>
          <p:nvPr/>
        </p:nvSpPr>
        <p:spPr>
          <a:xfrm>
            <a:off x="640080" y="941505"/>
            <a:ext cx="10911535" cy="777240"/>
          </a:xfrm>
          <a:prstGeom prst="rect">
            <a:avLst/>
          </a:prstGeom>
          <a:noFill/>
          <a:ln/>
        </p:spPr>
        <p:txBody>
          <a:bodyPr wrap="square" lIns="0" tIns="0" rIns="0" bIns="0" rtlCol="0" anchor="ctr"/>
          <a:lstStyle/>
          <a:p>
            <a:r>
              <a:rPr lang="en-US" sz="3200" b="1" dirty="0">
                <a:solidFill>
                  <a:srgbClr val="21295C"/>
                </a:solidFill>
                <a:latin typeface="Cambria" pitchFamily="34" charset="0"/>
                <a:ea typeface="Cambria" pitchFamily="34" charset="-122"/>
                <a:cs typeface="Cambria" pitchFamily="34" charset="-120"/>
              </a:rPr>
              <a:t>CPM</a:t>
            </a:r>
            <a:r>
              <a:rPr lang="ja-JP" altLang="en-US" sz="3200" b="1">
                <a:solidFill>
                  <a:srgbClr val="21295C"/>
                </a:solidFill>
                <a:latin typeface="Cambria" pitchFamily="34" charset="0"/>
                <a:ea typeface="Cambria" pitchFamily="34" charset="-122"/>
                <a:cs typeface="Cambria" pitchFamily="34" charset="-120"/>
              </a:rPr>
              <a:t>マスクの導入によるピントずれの比較</a:t>
            </a:r>
          </a:p>
          <a:p>
            <a:endParaRPr lang="en-US" sz="3200" dirty="0"/>
          </a:p>
        </p:txBody>
      </p:sp>
      <p:pic>
        <p:nvPicPr>
          <p:cNvPr id="4" name="Image 0" descr="/home/claude/pptx_work/figs/psf_grid_crop.png"/>
          <p:cNvPicPr>
            <a:picLocks noChangeAspect="1"/>
          </p:cNvPicPr>
          <p:nvPr/>
        </p:nvPicPr>
        <p:blipFill>
          <a:blip r:embed="rId3"/>
          <a:stretch>
            <a:fillRect/>
          </a:stretch>
        </p:blipFill>
        <p:spPr>
          <a:xfrm>
            <a:off x="655167" y="3126350"/>
            <a:ext cx="10881360" cy="2387237"/>
          </a:xfrm>
          <a:prstGeom prst="rect">
            <a:avLst/>
          </a:prstGeom>
        </p:spPr>
      </p:pic>
      <p:sp>
        <p:nvSpPr>
          <p:cNvPr id="5" name="Text 2"/>
          <p:cNvSpPr txBox="1"/>
          <p:nvPr/>
        </p:nvSpPr>
        <p:spPr>
          <a:xfrm>
            <a:off x="450893" y="2355291"/>
            <a:ext cx="10911535" cy="616427"/>
          </a:xfrm>
          <a:prstGeom prst="rect">
            <a:avLst/>
          </a:prstGeom>
          <a:noFill/>
          <a:ln/>
        </p:spPr>
        <p:txBody>
          <a:bodyPr wrap="square" lIns="0" tIns="0" rIns="0" bIns="0" rtlCol="0" anchor="ctr"/>
          <a:lstStyle/>
          <a:p>
            <a:pPr marL="0" indent="0" algn="ctr">
              <a:buNone/>
            </a:pPr>
            <a:r>
              <a:rPr lang="en-US" sz="2000" dirty="0" err="1">
                <a:solidFill>
                  <a:srgbClr val="5A6B7A"/>
                </a:solidFill>
                <a:latin typeface="Calibri" pitchFamily="34" charset="0"/>
                <a:ea typeface="Calibri" pitchFamily="34" charset="-122"/>
                <a:cs typeface="Calibri" pitchFamily="34" charset="-120"/>
              </a:rPr>
              <a:t>左右にいくほど焦点からのずれが大きい</a:t>
            </a:r>
            <a:r>
              <a:rPr lang="en-US" sz="2000" dirty="0">
                <a:solidFill>
                  <a:srgbClr val="5A6B7A"/>
                </a:solidFill>
                <a:latin typeface="Calibri" pitchFamily="34" charset="0"/>
                <a:ea typeface="Calibri" pitchFamily="34" charset="-122"/>
                <a:cs typeface="Calibri" pitchFamily="34" charset="-120"/>
              </a:rPr>
              <a:t>　</a:t>
            </a:r>
          </a:p>
          <a:p>
            <a:pPr marL="0" indent="0" algn="ctr">
              <a:buNone/>
            </a:pPr>
            <a:r>
              <a:rPr lang="en-US" sz="2000" dirty="0" err="1">
                <a:solidFill>
                  <a:srgbClr val="5A6B7A"/>
                </a:solidFill>
                <a:latin typeface="Calibri" pitchFamily="34" charset="0"/>
                <a:ea typeface="Calibri" pitchFamily="34" charset="-122"/>
                <a:cs typeface="Calibri" pitchFamily="34" charset="-120"/>
              </a:rPr>
              <a:t>上段:マスクなし</a:t>
            </a:r>
            <a:r>
              <a:rPr lang="en-US" sz="2000" dirty="0">
                <a:solidFill>
                  <a:srgbClr val="5A6B7A"/>
                </a:solidFill>
                <a:latin typeface="Calibri" pitchFamily="34" charset="0"/>
                <a:ea typeface="Calibri" pitchFamily="34" charset="-122"/>
                <a:cs typeface="Calibri" pitchFamily="34" charset="-120"/>
              </a:rPr>
              <a:t>　下段:位相マスクあり</a:t>
            </a:r>
            <a:endParaRPr lang="en-US" sz="2000" dirty="0"/>
          </a:p>
        </p:txBody>
      </p:sp>
      <p:sp>
        <p:nvSpPr>
          <p:cNvPr id="11" name="Text 8"/>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8</a:t>
            </a:r>
            <a:endParaRPr lang="en-US" sz="2000" dirty="0"/>
          </a:p>
        </p:txBody>
      </p:sp>
      <p:sp>
        <p:nvSpPr>
          <p:cNvPr id="14" name="テキスト ボックス 13">
            <a:extLst>
              <a:ext uri="{FF2B5EF4-FFF2-40B4-BE49-F238E27FC236}">
                <a16:creationId xmlns:a16="http://schemas.microsoft.com/office/drawing/2014/main" id="{5633C134-CFAD-B5C1-C2BC-9F246094EFDE}"/>
              </a:ext>
            </a:extLst>
          </p:cNvPr>
          <p:cNvSpPr txBox="1"/>
          <p:nvPr/>
        </p:nvSpPr>
        <p:spPr>
          <a:xfrm>
            <a:off x="554448" y="1672935"/>
            <a:ext cx="6096000" cy="523220"/>
          </a:xfrm>
          <a:prstGeom prst="rect">
            <a:avLst/>
          </a:prstGeom>
          <a:noFill/>
        </p:spPr>
        <p:txBody>
          <a:bodyPr wrap="square">
            <a:spAutoFit/>
          </a:bodyPr>
          <a:lstStyle/>
          <a:p>
            <a:r>
              <a:rPr lang="en-US" altLang="ja-JP" sz="2800" dirty="0"/>
              <a:t>CPM</a:t>
            </a:r>
            <a:r>
              <a:rPr lang="ja-JP" altLang="en-US" sz="2800"/>
              <a:t>：ΦM = α(x3 + y3)を追加</a:t>
            </a:r>
          </a:p>
        </p:txBody>
      </p:sp>
      <p:sp>
        <p:nvSpPr>
          <p:cNvPr id="17" name="テキスト ボックス 16">
            <a:extLst>
              <a:ext uri="{FF2B5EF4-FFF2-40B4-BE49-F238E27FC236}">
                <a16:creationId xmlns:a16="http://schemas.microsoft.com/office/drawing/2014/main" id="{989F3545-633D-ACB3-CEE7-37A134B9E0DC}"/>
              </a:ext>
            </a:extLst>
          </p:cNvPr>
          <p:cNvSpPr txBox="1"/>
          <p:nvPr/>
        </p:nvSpPr>
        <p:spPr>
          <a:xfrm>
            <a:off x="764655" y="5831860"/>
            <a:ext cx="10597773" cy="523220"/>
          </a:xfrm>
          <a:prstGeom prst="rect">
            <a:avLst/>
          </a:prstGeom>
          <a:noFill/>
        </p:spPr>
        <p:txBody>
          <a:bodyPr wrap="none" rtlCol="0">
            <a:spAutoFit/>
          </a:bodyPr>
          <a:lstStyle/>
          <a:p>
            <a:r>
              <a:rPr kumimoji="1" lang="ja-JP" altLang="en-US" sz="2800"/>
              <a:t>位相マスクを挿入することで、離焦点におけるボケが抑えられる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結果 ②</a:t>
            </a: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err="1">
                <a:solidFill>
                  <a:srgbClr val="21295C"/>
                </a:solidFill>
                <a:latin typeface="Cambria" pitchFamily="34" charset="0"/>
                <a:ea typeface="Cambria" pitchFamily="34" charset="-122"/>
                <a:cs typeface="Cambria" pitchFamily="34" charset="-120"/>
              </a:rPr>
              <a:t>Wienerフィルターによる復元</a:t>
            </a:r>
            <a:r>
              <a:rPr lang="en-US" sz="3200" b="1" dirty="0">
                <a:solidFill>
                  <a:srgbClr val="21295C"/>
                </a:solidFill>
                <a:latin typeface="Cambria" pitchFamily="34" charset="0"/>
                <a:ea typeface="Cambria" pitchFamily="34" charset="-122"/>
                <a:cs typeface="Cambria" pitchFamily="34" charset="-120"/>
              </a:rPr>
              <a:t>(</a:t>
            </a:r>
            <a:r>
              <a:rPr lang="en-US" sz="3200" b="1" dirty="0" err="1">
                <a:solidFill>
                  <a:srgbClr val="21295C"/>
                </a:solidFill>
                <a:latin typeface="Cambria" pitchFamily="34" charset="0"/>
                <a:ea typeface="Cambria" pitchFamily="34" charset="-122"/>
                <a:cs typeface="Cambria" pitchFamily="34" charset="-120"/>
              </a:rPr>
              <a:t>点光源</a:t>
            </a:r>
            <a:r>
              <a:rPr lang="en-US" sz="3200" b="1" dirty="0">
                <a:solidFill>
                  <a:srgbClr val="21295C"/>
                </a:solidFill>
                <a:latin typeface="Cambria" pitchFamily="34" charset="0"/>
                <a:ea typeface="Cambria" pitchFamily="34" charset="-122"/>
                <a:cs typeface="Cambria" pitchFamily="34" charset="-120"/>
              </a:rPr>
              <a:t>)</a:t>
            </a:r>
            <a:endParaRPr lang="en-US" sz="3200" dirty="0"/>
          </a:p>
        </p:txBody>
      </p:sp>
      <p:pic>
        <p:nvPicPr>
          <p:cNvPr id="4" name="Image 0" descr="/home/claude/pptx_work/figs/point_source_crop.png"/>
          <p:cNvPicPr>
            <a:picLocks noChangeAspect="1"/>
          </p:cNvPicPr>
          <p:nvPr/>
        </p:nvPicPr>
        <p:blipFill>
          <a:blip r:embed="rId3"/>
          <a:stretch>
            <a:fillRect/>
          </a:stretch>
        </p:blipFill>
        <p:spPr>
          <a:xfrm>
            <a:off x="1985404" y="1920240"/>
            <a:ext cx="4630771" cy="3703320"/>
          </a:xfrm>
          <a:prstGeom prst="rect">
            <a:avLst/>
          </a:prstGeom>
        </p:spPr>
      </p:pic>
      <p:sp>
        <p:nvSpPr>
          <p:cNvPr id="5" name="Text 2"/>
          <p:cNvSpPr txBox="1"/>
          <p:nvPr/>
        </p:nvSpPr>
        <p:spPr>
          <a:xfrm>
            <a:off x="1806728" y="5759932"/>
            <a:ext cx="4630771" cy="411480"/>
          </a:xfrm>
          <a:prstGeom prst="rect">
            <a:avLst/>
          </a:prstGeom>
          <a:noFill/>
          <a:ln/>
        </p:spPr>
        <p:txBody>
          <a:bodyPr wrap="square" lIns="0" tIns="0" rIns="0" bIns="0" rtlCol="0" anchor="ctr"/>
          <a:lstStyle/>
          <a:p>
            <a:pPr marL="0" indent="0" algn="ctr">
              <a:buNone/>
            </a:pPr>
            <a:r>
              <a:rPr lang="en-US" sz="2000" dirty="0">
                <a:solidFill>
                  <a:srgbClr val="5A6B7A"/>
                </a:solidFill>
                <a:latin typeface="Calibri" pitchFamily="34" charset="0"/>
                <a:ea typeface="Calibri" pitchFamily="34" charset="-122"/>
                <a:cs typeface="Calibri" pitchFamily="34" charset="-120"/>
              </a:rPr>
              <a:t>点の光を撮影・復元した例</a:t>
            </a:r>
            <a:endParaRPr lang="en-US" sz="2000" dirty="0"/>
          </a:p>
        </p:txBody>
      </p:sp>
      <p:sp>
        <p:nvSpPr>
          <p:cNvPr id="7" name="Text 4"/>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9</a:t>
            </a:r>
            <a:endParaRPr lang="en-US" sz="2000" dirty="0"/>
          </a:p>
        </p:txBody>
      </p:sp>
      <p:sp>
        <p:nvSpPr>
          <p:cNvPr id="8" name="テキスト ボックス 7">
            <a:extLst>
              <a:ext uri="{FF2B5EF4-FFF2-40B4-BE49-F238E27FC236}">
                <a16:creationId xmlns:a16="http://schemas.microsoft.com/office/drawing/2014/main" id="{86E24EA1-3AEA-5D06-E112-2B9C92C5F2CF}"/>
              </a:ext>
            </a:extLst>
          </p:cNvPr>
          <p:cNvSpPr txBox="1"/>
          <p:nvPr/>
        </p:nvSpPr>
        <p:spPr>
          <a:xfrm>
            <a:off x="224582" y="2198560"/>
            <a:ext cx="415498" cy="1477328"/>
          </a:xfrm>
          <a:prstGeom prst="rect">
            <a:avLst/>
          </a:prstGeom>
          <a:noFill/>
        </p:spPr>
        <p:txBody>
          <a:bodyPr wrap="square" rtlCol="0">
            <a:spAutoFit/>
          </a:bodyPr>
          <a:lstStyle/>
          <a:p>
            <a:r>
              <a:rPr kumimoji="1" lang="ja-JP" altLang="en-US"/>
              <a:t>マ</a:t>
            </a:r>
            <a:endParaRPr kumimoji="1" lang="en-US" altLang="ja-JP" dirty="0"/>
          </a:p>
          <a:p>
            <a:r>
              <a:rPr kumimoji="1" lang="ja-JP" altLang="en-US"/>
              <a:t>ス</a:t>
            </a:r>
            <a:endParaRPr kumimoji="1" lang="en-US" altLang="ja-JP" dirty="0"/>
          </a:p>
          <a:p>
            <a:r>
              <a:rPr kumimoji="1" lang="ja-JP" altLang="en-US"/>
              <a:t>ク</a:t>
            </a:r>
            <a:endParaRPr kumimoji="1" lang="en-US" altLang="ja-JP" dirty="0"/>
          </a:p>
          <a:p>
            <a:r>
              <a:rPr kumimoji="1" lang="ja-JP" altLang="en-US"/>
              <a:t>な</a:t>
            </a:r>
            <a:endParaRPr kumimoji="1" lang="en-US" altLang="ja-JP" dirty="0"/>
          </a:p>
          <a:p>
            <a:r>
              <a:rPr kumimoji="1" lang="ja-JP" altLang="en-US"/>
              <a:t>し</a:t>
            </a:r>
          </a:p>
        </p:txBody>
      </p:sp>
      <p:sp>
        <p:nvSpPr>
          <p:cNvPr id="9" name="テキスト ボックス 8">
            <a:extLst>
              <a:ext uri="{FF2B5EF4-FFF2-40B4-BE49-F238E27FC236}">
                <a16:creationId xmlns:a16="http://schemas.microsoft.com/office/drawing/2014/main" id="{2B026FD6-371C-0527-A81F-681D0E59EDE1}"/>
              </a:ext>
            </a:extLst>
          </p:cNvPr>
          <p:cNvSpPr txBox="1"/>
          <p:nvPr/>
        </p:nvSpPr>
        <p:spPr>
          <a:xfrm>
            <a:off x="188618" y="4080542"/>
            <a:ext cx="415498" cy="1477328"/>
          </a:xfrm>
          <a:prstGeom prst="rect">
            <a:avLst/>
          </a:prstGeom>
          <a:noFill/>
        </p:spPr>
        <p:txBody>
          <a:bodyPr wrap="none" rtlCol="0">
            <a:spAutoFit/>
          </a:bodyPr>
          <a:lstStyle/>
          <a:p>
            <a:r>
              <a:rPr kumimoji="1" lang="ja-JP" altLang="en-US"/>
              <a:t>マ</a:t>
            </a:r>
            <a:endParaRPr kumimoji="1" lang="en-US" altLang="ja-JP" dirty="0"/>
          </a:p>
          <a:p>
            <a:r>
              <a:rPr kumimoji="1" lang="ja-JP" altLang="en-US"/>
              <a:t>ス</a:t>
            </a:r>
            <a:endParaRPr kumimoji="1" lang="en-US" altLang="ja-JP" dirty="0"/>
          </a:p>
          <a:p>
            <a:r>
              <a:rPr kumimoji="1" lang="ja-JP" altLang="en-US"/>
              <a:t>ク</a:t>
            </a:r>
            <a:endParaRPr kumimoji="1" lang="en-US" altLang="ja-JP" dirty="0"/>
          </a:p>
          <a:p>
            <a:r>
              <a:rPr kumimoji="1" lang="ja-JP" altLang="en-US"/>
              <a:t>あ</a:t>
            </a:r>
            <a:endParaRPr kumimoji="1" lang="en-US" altLang="ja-JP" dirty="0"/>
          </a:p>
          <a:p>
            <a:r>
              <a:rPr kumimoji="1" lang="ja-JP" altLang="en-US"/>
              <a:t>り</a:t>
            </a:r>
            <a:endParaRPr kumimoji="1" lang="en-US" altLang="ja-JP" dirty="0"/>
          </a:p>
        </p:txBody>
      </p:sp>
      <p:sp>
        <p:nvSpPr>
          <p:cNvPr id="10" name="テキスト ボックス 9">
            <a:extLst>
              <a:ext uri="{FF2B5EF4-FFF2-40B4-BE49-F238E27FC236}">
                <a16:creationId xmlns:a16="http://schemas.microsoft.com/office/drawing/2014/main" id="{408EF545-C81C-1E65-5C78-63CE4250E634}"/>
              </a:ext>
            </a:extLst>
          </p:cNvPr>
          <p:cNvSpPr txBox="1"/>
          <p:nvPr/>
        </p:nvSpPr>
        <p:spPr>
          <a:xfrm>
            <a:off x="897022" y="2271498"/>
            <a:ext cx="1107996" cy="369332"/>
          </a:xfrm>
          <a:prstGeom prst="rect">
            <a:avLst/>
          </a:prstGeom>
          <a:noFill/>
        </p:spPr>
        <p:txBody>
          <a:bodyPr wrap="none" rtlCol="0">
            <a:spAutoFit/>
          </a:bodyPr>
          <a:lstStyle/>
          <a:p>
            <a:r>
              <a:rPr kumimoji="1" lang="ja-JP" altLang="en-US"/>
              <a:t>撮影画像</a:t>
            </a:r>
          </a:p>
        </p:txBody>
      </p:sp>
      <p:sp>
        <p:nvSpPr>
          <p:cNvPr id="11" name="テキスト ボックス 10">
            <a:extLst>
              <a:ext uri="{FF2B5EF4-FFF2-40B4-BE49-F238E27FC236}">
                <a16:creationId xmlns:a16="http://schemas.microsoft.com/office/drawing/2014/main" id="{8A2A72CA-BE30-E72C-A085-2BB7E0CA7B9A}"/>
              </a:ext>
            </a:extLst>
          </p:cNvPr>
          <p:cNvSpPr txBox="1"/>
          <p:nvPr/>
        </p:nvSpPr>
        <p:spPr>
          <a:xfrm>
            <a:off x="869190" y="3233406"/>
            <a:ext cx="1107996" cy="369332"/>
          </a:xfrm>
          <a:prstGeom prst="rect">
            <a:avLst/>
          </a:prstGeom>
          <a:noFill/>
        </p:spPr>
        <p:txBody>
          <a:bodyPr wrap="none" rtlCol="0">
            <a:spAutoFit/>
          </a:bodyPr>
          <a:lstStyle/>
          <a:p>
            <a:r>
              <a:rPr kumimoji="1" lang="ja-JP" altLang="en-US"/>
              <a:t>復元画像</a:t>
            </a:r>
          </a:p>
        </p:txBody>
      </p:sp>
      <p:sp>
        <p:nvSpPr>
          <p:cNvPr id="12" name="テキスト ボックス 11">
            <a:extLst>
              <a:ext uri="{FF2B5EF4-FFF2-40B4-BE49-F238E27FC236}">
                <a16:creationId xmlns:a16="http://schemas.microsoft.com/office/drawing/2014/main" id="{27CE48F4-845A-A49D-E016-A49340B9A432}"/>
              </a:ext>
            </a:extLst>
          </p:cNvPr>
          <p:cNvSpPr txBox="1"/>
          <p:nvPr/>
        </p:nvSpPr>
        <p:spPr>
          <a:xfrm>
            <a:off x="877408" y="5032990"/>
            <a:ext cx="1107996" cy="369332"/>
          </a:xfrm>
          <a:prstGeom prst="rect">
            <a:avLst/>
          </a:prstGeom>
          <a:noFill/>
        </p:spPr>
        <p:txBody>
          <a:bodyPr wrap="none" rtlCol="0">
            <a:spAutoFit/>
          </a:bodyPr>
          <a:lstStyle/>
          <a:p>
            <a:r>
              <a:rPr kumimoji="1" lang="ja-JP" altLang="en-US"/>
              <a:t>復元画像</a:t>
            </a:r>
          </a:p>
        </p:txBody>
      </p:sp>
      <p:sp>
        <p:nvSpPr>
          <p:cNvPr id="13" name="テキスト ボックス 12">
            <a:extLst>
              <a:ext uri="{FF2B5EF4-FFF2-40B4-BE49-F238E27FC236}">
                <a16:creationId xmlns:a16="http://schemas.microsoft.com/office/drawing/2014/main" id="{64388063-B3E3-290F-57EC-3BBFFAB5E6C1}"/>
              </a:ext>
            </a:extLst>
          </p:cNvPr>
          <p:cNvSpPr txBox="1"/>
          <p:nvPr/>
        </p:nvSpPr>
        <p:spPr>
          <a:xfrm>
            <a:off x="877408" y="4150590"/>
            <a:ext cx="1107996" cy="369332"/>
          </a:xfrm>
          <a:prstGeom prst="rect">
            <a:avLst/>
          </a:prstGeom>
          <a:noFill/>
        </p:spPr>
        <p:txBody>
          <a:bodyPr wrap="none" rtlCol="0">
            <a:spAutoFit/>
          </a:bodyPr>
          <a:lstStyle/>
          <a:p>
            <a:r>
              <a:rPr kumimoji="1" lang="ja-JP" altLang="en-US"/>
              <a:t>撮影画像</a:t>
            </a:r>
          </a:p>
        </p:txBody>
      </p:sp>
      <p:pic>
        <p:nvPicPr>
          <p:cNvPr id="14" name="Image 1" descr="/home/claude/pptx_work/figs/sharpness.png">
            <a:extLst>
              <a:ext uri="{FF2B5EF4-FFF2-40B4-BE49-F238E27FC236}">
                <a16:creationId xmlns:a16="http://schemas.microsoft.com/office/drawing/2014/main" id="{E42C72BC-4162-8F02-2A7F-382EDB4951EC}"/>
              </a:ext>
            </a:extLst>
          </p:cNvPr>
          <p:cNvPicPr>
            <a:picLocks noChangeAspect="1"/>
          </p:cNvPicPr>
          <p:nvPr/>
        </p:nvPicPr>
        <p:blipFill>
          <a:blip r:embed="rId4"/>
          <a:stretch>
            <a:fillRect/>
          </a:stretch>
        </p:blipFill>
        <p:spPr>
          <a:xfrm>
            <a:off x="6938218" y="2163560"/>
            <a:ext cx="5029200" cy="3209224"/>
          </a:xfrm>
          <a:prstGeom prst="rect">
            <a:avLst/>
          </a:prstGeom>
        </p:spPr>
      </p:pic>
      <p:sp>
        <p:nvSpPr>
          <p:cNvPr id="15" name="Text 3">
            <a:extLst>
              <a:ext uri="{FF2B5EF4-FFF2-40B4-BE49-F238E27FC236}">
                <a16:creationId xmlns:a16="http://schemas.microsoft.com/office/drawing/2014/main" id="{F951884E-A0BA-72BD-0396-B6F35FF77E6E}"/>
              </a:ext>
            </a:extLst>
          </p:cNvPr>
          <p:cNvSpPr txBox="1"/>
          <p:nvPr/>
        </p:nvSpPr>
        <p:spPr>
          <a:xfrm>
            <a:off x="6616175" y="1485216"/>
            <a:ext cx="5671334" cy="591298"/>
          </a:xfrm>
          <a:prstGeom prst="rect">
            <a:avLst/>
          </a:prstGeom>
          <a:noFill/>
          <a:ln/>
        </p:spPr>
        <p:txBody>
          <a:bodyPr wrap="square" lIns="0" tIns="0" rIns="0" bIns="0" rtlCol="0" anchor="ctr"/>
          <a:lstStyle/>
          <a:p>
            <a:pPr marL="0" indent="0" algn="ctr">
              <a:buNone/>
            </a:pPr>
            <a:r>
              <a:rPr lang="en-US" sz="2000" dirty="0" err="1">
                <a:solidFill>
                  <a:srgbClr val="5A6B7A"/>
                </a:solidFill>
                <a:latin typeface="Calibri" pitchFamily="34" charset="0"/>
                <a:ea typeface="Calibri" pitchFamily="34" charset="-122"/>
                <a:cs typeface="Calibri" pitchFamily="34" charset="-120"/>
              </a:rPr>
              <a:t>点の光の鋭さ</a:t>
            </a:r>
            <a:endParaRPr lang="en-US" sz="2000" dirty="0">
              <a:solidFill>
                <a:srgbClr val="5A6B7A"/>
              </a:solidFill>
              <a:latin typeface="Calibri" pitchFamily="34" charset="0"/>
              <a:ea typeface="Calibri" pitchFamily="34" charset="-122"/>
              <a:cs typeface="Calibri" pitchFamily="34" charset="-120"/>
            </a:endParaRPr>
          </a:p>
          <a:p>
            <a:pPr algn="ctr"/>
            <a:r>
              <a:rPr lang="ja-JP" altLang="ja-JP" sz="2000"/>
              <a:t>sharpness=</a:t>
            </a:r>
            <a:r>
              <a:rPr lang="en-US" altLang="ja-JP" sz="2000" dirty="0"/>
              <a:t> 1</a:t>
            </a:r>
            <a:r>
              <a:rPr lang="ja-JP" altLang="en-US" sz="2000"/>
              <a:t>点のエネルギー量</a:t>
            </a:r>
            <a:r>
              <a:rPr lang="en-US" altLang="ja-JP" sz="2000" dirty="0"/>
              <a:t>/</a:t>
            </a:r>
            <a:r>
              <a:rPr lang="ja-JP" altLang="en-US" sz="2000"/>
              <a:t>エネルギーの総和</a:t>
            </a:r>
            <a:r>
              <a:rPr lang="ja-JP" altLang="ja-JP" sz="2000"/>
              <a:t>​</a:t>
            </a:r>
            <a:endParaRPr lang="en-US" sz="2000" dirty="0"/>
          </a:p>
        </p:txBody>
      </p:sp>
      <p:sp>
        <p:nvSpPr>
          <p:cNvPr id="16" name="テキスト ボックス 15">
            <a:extLst>
              <a:ext uri="{FF2B5EF4-FFF2-40B4-BE49-F238E27FC236}">
                <a16:creationId xmlns:a16="http://schemas.microsoft.com/office/drawing/2014/main" id="{941285D4-D6F9-EB30-A94E-2A72A51A8D4D}"/>
              </a:ext>
            </a:extLst>
          </p:cNvPr>
          <p:cNvSpPr txBox="1"/>
          <p:nvPr/>
        </p:nvSpPr>
        <p:spPr>
          <a:xfrm>
            <a:off x="6983002" y="5365507"/>
            <a:ext cx="5208998" cy="923330"/>
          </a:xfrm>
          <a:prstGeom prst="rect">
            <a:avLst/>
          </a:prstGeom>
          <a:noFill/>
        </p:spPr>
        <p:txBody>
          <a:bodyPr wrap="square" rtlCol="0">
            <a:spAutoFit/>
          </a:bodyPr>
          <a:lstStyle/>
          <a:p>
            <a:r>
              <a:rPr lang="ja-JP" altLang="ja-JP"/>
              <a:t>画像のエネルギーがどれだけ1点に集中しているかの割合。理想的な点なら最大値=総和なので 1 に近づき、ぼけて広がるほど 0 に近づきます。</a:t>
            </a:r>
            <a:endParaRPr kumimoji="1"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8222C91-3BB2-8734-6626-30C0F17741CC}"/>
              </a:ext>
            </a:extLst>
          </p:cNvPr>
          <p:cNvPicPr>
            <a:picLocks noChangeAspect="1"/>
          </p:cNvPicPr>
          <p:nvPr/>
        </p:nvPicPr>
        <p:blipFill>
          <a:blip r:embed="rId2"/>
          <a:stretch>
            <a:fillRect/>
          </a:stretch>
        </p:blipFill>
        <p:spPr>
          <a:xfrm>
            <a:off x="2258696" y="1618488"/>
            <a:ext cx="4772388" cy="4761186"/>
          </a:xfrm>
          <a:prstGeom prst="rect">
            <a:avLst/>
          </a:prstGeom>
        </p:spPr>
      </p:pic>
      <p:sp>
        <p:nvSpPr>
          <p:cNvPr id="8" name="Text 0">
            <a:extLst>
              <a:ext uri="{FF2B5EF4-FFF2-40B4-BE49-F238E27FC236}">
                <a16:creationId xmlns:a16="http://schemas.microsoft.com/office/drawing/2014/main" id="{F7E2D1DF-2F3F-28E5-FFDB-F681AD7D4828}"/>
              </a:ext>
            </a:extLst>
          </p:cNvPr>
          <p:cNvSpPr txBox="1"/>
          <p:nvPr/>
        </p:nvSpPr>
        <p:spPr>
          <a:xfrm>
            <a:off x="640080" y="384048"/>
            <a:ext cx="9144000" cy="384048"/>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pitchFamily="34" charset="0"/>
                <a:ea typeface="Calibri" pitchFamily="34" charset="-122"/>
                <a:cs typeface="Calibri" pitchFamily="34" charset="-120"/>
              </a:rPr>
              <a:t>結果 ②</a:t>
            </a:r>
            <a:endParaRPr lang="en-US" sz="2000" dirty="0"/>
          </a:p>
        </p:txBody>
      </p:sp>
      <p:sp>
        <p:nvSpPr>
          <p:cNvPr id="9" name="Text 1">
            <a:extLst>
              <a:ext uri="{FF2B5EF4-FFF2-40B4-BE49-F238E27FC236}">
                <a16:creationId xmlns:a16="http://schemas.microsoft.com/office/drawing/2014/main" id="{9B01472C-F679-D998-FA91-30BC6F8FF6E7}"/>
              </a:ext>
            </a:extLst>
          </p:cNvPr>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err="1">
                <a:solidFill>
                  <a:srgbClr val="21295C"/>
                </a:solidFill>
                <a:latin typeface="Cambria" pitchFamily="34" charset="0"/>
                <a:ea typeface="Cambria" pitchFamily="34" charset="-122"/>
                <a:cs typeface="Cambria" pitchFamily="34" charset="-120"/>
              </a:rPr>
              <a:t>Wienerフィルターによる復元</a:t>
            </a:r>
            <a:r>
              <a:rPr lang="en-US" sz="3200" b="1" dirty="0">
                <a:solidFill>
                  <a:srgbClr val="21295C"/>
                </a:solidFill>
                <a:latin typeface="Cambria" pitchFamily="34" charset="0"/>
                <a:ea typeface="Cambria" pitchFamily="34" charset="-122"/>
                <a:cs typeface="Cambria" pitchFamily="34" charset="-120"/>
              </a:rPr>
              <a:t>(</a:t>
            </a:r>
            <a:r>
              <a:rPr lang="en-US" sz="3200" b="1" dirty="0" err="1">
                <a:solidFill>
                  <a:srgbClr val="21295C"/>
                </a:solidFill>
                <a:latin typeface="Cambria" pitchFamily="34" charset="0"/>
                <a:ea typeface="Cambria" pitchFamily="34" charset="-122"/>
                <a:cs typeface="Cambria" pitchFamily="34" charset="-120"/>
              </a:rPr>
              <a:t>チャープ画像</a:t>
            </a:r>
            <a:r>
              <a:rPr lang="en-US" sz="3200" b="1" dirty="0">
                <a:solidFill>
                  <a:srgbClr val="21295C"/>
                </a:solidFill>
                <a:latin typeface="Cambria" pitchFamily="34" charset="0"/>
                <a:ea typeface="Cambria" pitchFamily="34" charset="-122"/>
                <a:cs typeface="Cambria" pitchFamily="34" charset="-120"/>
              </a:rPr>
              <a:t>)</a:t>
            </a:r>
            <a:endParaRPr lang="en-US" sz="3200" dirty="0"/>
          </a:p>
        </p:txBody>
      </p:sp>
      <p:sp>
        <p:nvSpPr>
          <p:cNvPr id="11" name="テキスト ボックス 10">
            <a:extLst>
              <a:ext uri="{FF2B5EF4-FFF2-40B4-BE49-F238E27FC236}">
                <a16:creationId xmlns:a16="http://schemas.microsoft.com/office/drawing/2014/main" id="{6E989630-B9D2-A516-087D-DC7D3799F5C5}"/>
              </a:ext>
            </a:extLst>
          </p:cNvPr>
          <p:cNvSpPr txBox="1"/>
          <p:nvPr/>
        </p:nvSpPr>
        <p:spPr>
          <a:xfrm>
            <a:off x="2152357" y="2222695"/>
            <a:ext cx="184731" cy="369332"/>
          </a:xfrm>
          <a:prstGeom prst="rect">
            <a:avLst/>
          </a:prstGeom>
          <a:noFill/>
        </p:spPr>
        <p:txBody>
          <a:bodyPr wrap="none" rtlCol="0">
            <a:spAutoFit/>
          </a:bodyPr>
          <a:lstStyle/>
          <a:p>
            <a:endParaRPr kumimoji="1" lang="ja-JP" altLang="en-US"/>
          </a:p>
        </p:txBody>
      </p:sp>
      <p:sp>
        <p:nvSpPr>
          <p:cNvPr id="18" name="テキスト ボックス 17">
            <a:extLst>
              <a:ext uri="{FF2B5EF4-FFF2-40B4-BE49-F238E27FC236}">
                <a16:creationId xmlns:a16="http://schemas.microsoft.com/office/drawing/2014/main" id="{EA9F046B-FCDF-9307-CB10-03657B2E0C9B}"/>
              </a:ext>
            </a:extLst>
          </p:cNvPr>
          <p:cNvSpPr txBox="1"/>
          <p:nvPr/>
        </p:nvSpPr>
        <p:spPr>
          <a:xfrm>
            <a:off x="224582" y="3003024"/>
            <a:ext cx="415498" cy="1477328"/>
          </a:xfrm>
          <a:prstGeom prst="rect">
            <a:avLst/>
          </a:prstGeom>
          <a:noFill/>
        </p:spPr>
        <p:txBody>
          <a:bodyPr wrap="square" rtlCol="0">
            <a:spAutoFit/>
          </a:bodyPr>
          <a:lstStyle/>
          <a:p>
            <a:r>
              <a:rPr kumimoji="1" lang="ja-JP" altLang="en-US"/>
              <a:t>マ</a:t>
            </a:r>
            <a:endParaRPr kumimoji="1" lang="en-US" altLang="ja-JP" dirty="0"/>
          </a:p>
          <a:p>
            <a:r>
              <a:rPr kumimoji="1" lang="ja-JP" altLang="en-US"/>
              <a:t>ス</a:t>
            </a:r>
            <a:endParaRPr kumimoji="1" lang="en-US" altLang="ja-JP" dirty="0"/>
          </a:p>
          <a:p>
            <a:r>
              <a:rPr kumimoji="1" lang="ja-JP" altLang="en-US"/>
              <a:t>ク</a:t>
            </a:r>
            <a:endParaRPr kumimoji="1" lang="en-US" altLang="ja-JP" dirty="0"/>
          </a:p>
          <a:p>
            <a:r>
              <a:rPr kumimoji="1" lang="ja-JP" altLang="en-US"/>
              <a:t>な</a:t>
            </a:r>
            <a:endParaRPr kumimoji="1" lang="en-US" altLang="ja-JP" dirty="0"/>
          </a:p>
          <a:p>
            <a:r>
              <a:rPr kumimoji="1" lang="ja-JP" altLang="en-US"/>
              <a:t>し</a:t>
            </a:r>
          </a:p>
        </p:txBody>
      </p:sp>
      <p:sp>
        <p:nvSpPr>
          <p:cNvPr id="19" name="テキスト ボックス 18">
            <a:extLst>
              <a:ext uri="{FF2B5EF4-FFF2-40B4-BE49-F238E27FC236}">
                <a16:creationId xmlns:a16="http://schemas.microsoft.com/office/drawing/2014/main" id="{49BEC261-5B55-D300-BED3-DF036ED1BAD1}"/>
              </a:ext>
            </a:extLst>
          </p:cNvPr>
          <p:cNvSpPr txBox="1"/>
          <p:nvPr/>
        </p:nvSpPr>
        <p:spPr>
          <a:xfrm>
            <a:off x="188618" y="4885006"/>
            <a:ext cx="415498" cy="1477328"/>
          </a:xfrm>
          <a:prstGeom prst="rect">
            <a:avLst/>
          </a:prstGeom>
          <a:noFill/>
        </p:spPr>
        <p:txBody>
          <a:bodyPr wrap="none" rtlCol="0">
            <a:spAutoFit/>
          </a:bodyPr>
          <a:lstStyle/>
          <a:p>
            <a:r>
              <a:rPr kumimoji="1" lang="ja-JP" altLang="en-US"/>
              <a:t>マ</a:t>
            </a:r>
            <a:endParaRPr kumimoji="1" lang="en-US" altLang="ja-JP" dirty="0"/>
          </a:p>
          <a:p>
            <a:r>
              <a:rPr kumimoji="1" lang="ja-JP" altLang="en-US"/>
              <a:t>ス</a:t>
            </a:r>
            <a:endParaRPr kumimoji="1" lang="en-US" altLang="ja-JP" dirty="0"/>
          </a:p>
          <a:p>
            <a:r>
              <a:rPr kumimoji="1" lang="ja-JP" altLang="en-US"/>
              <a:t>ク</a:t>
            </a:r>
            <a:endParaRPr kumimoji="1" lang="en-US" altLang="ja-JP" dirty="0"/>
          </a:p>
          <a:p>
            <a:r>
              <a:rPr kumimoji="1" lang="ja-JP" altLang="en-US"/>
              <a:t>あ</a:t>
            </a:r>
            <a:endParaRPr kumimoji="1" lang="en-US" altLang="ja-JP" dirty="0"/>
          </a:p>
          <a:p>
            <a:r>
              <a:rPr kumimoji="1" lang="ja-JP" altLang="en-US"/>
              <a:t>り</a:t>
            </a:r>
            <a:endParaRPr kumimoji="1" lang="en-US" altLang="ja-JP" dirty="0"/>
          </a:p>
        </p:txBody>
      </p:sp>
      <p:sp>
        <p:nvSpPr>
          <p:cNvPr id="20" name="テキスト ボックス 19">
            <a:extLst>
              <a:ext uri="{FF2B5EF4-FFF2-40B4-BE49-F238E27FC236}">
                <a16:creationId xmlns:a16="http://schemas.microsoft.com/office/drawing/2014/main" id="{795A94DC-BC43-EB7A-A88C-F1BA3B591E0F}"/>
              </a:ext>
            </a:extLst>
          </p:cNvPr>
          <p:cNvSpPr txBox="1"/>
          <p:nvPr/>
        </p:nvSpPr>
        <p:spPr>
          <a:xfrm>
            <a:off x="897022" y="3075962"/>
            <a:ext cx="1107996" cy="369332"/>
          </a:xfrm>
          <a:prstGeom prst="rect">
            <a:avLst/>
          </a:prstGeom>
          <a:noFill/>
        </p:spPr>
        <p:txBody>
          <a:bodyPr wrap="none" rtlCol="0">
            <a:spAutoFit/>
          </a:bodyPr>
          <a:lstStyle/>
          <a:p>
            <a:r>
              <a:rPr kumimoji="1" lang="ja-JP" altLang="en-US"/>
              <a:t>撮影画像</a:t>
            </a:r>
          </a:p>
        </p:txBody>
      </p:sp>
      <p:sp>
        <p:nvSpPr>
          <p:cNvPr id="21" name="テキスト ボックス 20">
            <a:extLst>
              <a:ext uri="{FF2B5EF4-FFF2-40B4-BE49-F238E27FC236}">
                <a16:creationId xmlns:a16="http://schemas.microsoft.com/office/drawing/2014/main" id="{414A54E0-E87D-25B0-8626-5CAC29636CD9}"/>
              </a:ext>
            </a:extLst>
          </p:cNvPr>
          <p:cNvSpPr txBox="1"/>
          <p:nvPr/>
        </p:nvSpPr>
        <p:spPr>
          <a:xfrm>
            <a:off x="869190" y="4037870"/>
            <a:ext cx="1107996" cy="369332"/>
          </a:xfrm>
          <a:prstGeom prst="rect">
            <a:avLst/>
          </a:prstGeom>
          <a:noFill/>
        </p:spPr>
        <p:txBody>
          <a:bodyPr wrap="none" rtlCol="0">
            <a:spAutoFit/>
          </a:bodyPr>
          <a:lstStyle/>
          <a:p>
            <a:r>
              <a:rPr kumimoji="1" lang="ja-JP" altLang="en-US"/>
              <a:t>復元画像</a:t>
            </a:r>
          </a:p>
        </p:txBody>
      </p:sp>
      <p:sp>
        <p:nvSpPr>
          <p:cNvPr id="22" name="テキスト ボックス 21">
            <a:extLst>
              <a:ext uri="{FF2B5EF4-FFF2-40B4-BE49-F238E27FC236}">
                <a16:creationId xmlns:a16="http://schemas.microsoft.com/office/drawing/2014/main" id="{D3E0F365-C9C2-F9B1-2ACB-29388E100BAB}"/>
              </a:ext>
            </a:extLst>
          </p:cNvPr>
          <p:cNvSpPr txBox="1"/>
          <p:nvPr/>
        </p:nvSpPr>
        <p:spPr>
          <a:xfrm>
            <a:off x="877408" y="5837454"/>
            <a:ext cx="1107996" cy="369332"/>
          </a:xfrm>
          <a:prstGeom prst="rect">
            <a:avLst/>
          </a:prstGeom>
          <a:noFill/>
        </p:spPr>
        <p:txBody>
          <a:bodyPr wrap="none" rtlCol="0">
            <a:spAutoFit/>
          </a:bodyPr>
          <a:lstStyle/>
          <a:p>
            <a:r>
              <a:rPr kumimoji="1" lang="ja-JP" altLang="en-US"/>
              <a:t>復元画像</a:t>
            </a:r>
          </a:p>
        </p:txBody>
      </p:sp>
      <p:sp>
        <p:nvSpPr>
          <p:cNvPr id="23" name="テキスト ボックス 22">
            <a:extLst>
              <a:ext uri="{FF2B5EF4-FFF2-40B4-BE49-F238E27FC236}">
                <a16:creationId xmlns:a16="http://schemas.microsoft.com/office/drawing/2014/main" id="{5DAF11A3-48D5-C709-8DED-3B2A2426FB13}"/>
              </a:ext>
            </a:extLst>
          </p:cNvPr>
          <p:cNvSpPr txBox="1"/>
          <p:nvPr/>
        </p:nvSpPr>
        <p:spPr>
          <a:xfrm>
            <a:off x="877408" y="4955054"/>
            <a:ext cx="1107996" cy="369332"/>
          </a:xfrm>
          <a:prstGeom prst="rect">
            <a:avLst/>
          </a:prstGeom>
          <a:noFill/>
        </p:spPr>
        <p:txBody>
          <a:bodyPr wrap="none" rtlCol="0">
            <a:spAutoFit/>
          </a:bodyPr>
          <a:lstStyle/>
          <a:p>
            <a:r>
              <a:rPr kumimoji="1" lang="ja-JP" altLang="en-US"/>
              <a:t>撮影画像</a:t>
            </a:r>
          </a:p>
        </p:txBody>
      </p:sp>
      <p:sp>
        <p:nvSpPr>
          <p:cNvPr id="24" name="テキスト ボックス 23">
            <a:extLst>
              <a:ext uri="{FF2B5EF4-FFF2-40B4-BE49-F238E27FC236}">
                <a16:creationId xmlns:a16="http://schemas.microsoft.com/office/drawing/2014/main" id="{C13736F0-6954-A703-E415-101928D4C442}"/>
              </a:ext>
            </a:extLst>
          </p:cNvPr>
          <p:cNvSpPr txBox="1"/>
          <p:nvPr/>
        </p:nvSpPr>
        <p:spPr>
          <a:xfrm>
            <a:off x="984606" y="2114054"/>
            <a:ext cx="877163" cy="369332"/>
          </a:xfrm>
          <a:prstGeom prst="rect">
            <a:avLst/>
          </a:prstGeom>
          <a:noFill/>
        </p:spPr>
        <p:txBody>
          <a:bodyPr wrap="none" rtlCol="0">
            <a:spAutoFit/>
          </a:bodyPr>
          <a:lstStyle/>
          <a:p>
            <a:r>
              <a:rPr kumimoji="1" lang="ja-JP" altLang="en-US"/>
              <a:t>元画像</a:t>
            </a:r>
          </a:p>
        </p:txBody>
      </p:sp>
      <p:sp>
        <p:nvSpPr>
          <p:cNvPr id="26" name="Text 3">
            <a:extLst>
              <a:ext uri="{FF2B5EF4-FFF2-40B4-BE49-F238E27FC236}">
                <a16:creationId xmlns:a16="http://schemas.microsoft.com/office/drawing/2014/main" id="{4A838AEC-0E8A-4BE7-A957-F7972F8E0EDA}"/>
              </a:ext>
            </a:extLst>
          </p:cNvPr>
          <p:cNvSpPr txBox="1"/>
          <p:nvPr/>
        </p:nvSpPr>
        <p:spPr>
          <a:xfrm>
            <a:off x="7399283" y="1920240"/>
            <a:ext cx="4152332" cy="3931920"/>
          </a:xfrm>
          <a:prstGeom prst="rect">
            <a:avLst/>
          </a:prstGeom>
          <a:noFill/>
          <a:ln/>
        </p:spPr>
        <p:txBody>
          <a:bodyPr wrap="square" lIns="0" tIns="0" rIns="0" bIns="0" rtlCol="0" anchor="t"/>
          <a:lstStyle/>
          <a:p>
            <a:pPr marL="279400" indent="-279400">
              <a:spcAft>
                <a:spcPts val="2600"/>
              </a:spcAft>
              <a:buSzPct val="100000"/>
              <a:buChar char="●"/>
            </a:pPr>
            <a:r>
              <a:rPr lang="en-US" sz="2200" dirty="0" err="1">
                <a:solidFill>
                  <a:srgbClr val="1B2733"/>
                </a:solidFill>
                <a:latin typeface="Calibri" pitchFamily="34" charset="0"/>
                <a:ea typeface="Calibri" pitchFamily="34" charset="-122"/>
                <a:cs typeface="Calibri" pitchFamily="34" charset="-120"/>
              </a:rPr>
              <a:t>位相マスクありでは、ピントがずれても元の画像に復元できる</a:t>
            </a:r>
            <a:endParaRPr lang="en-US" sz="2200" dirty="0"/>
          </a:p>
          <a:p>
            <a:pPr marL="279400" indent="-279400">
              <a:spcAft>
                <a:spcPts val="2600"/>
              </a:spcAft>
              <a:buSzPct val="100000"/>
              <a:buChar char="●"/>
            </a:pPr>
            <a:r>
              <a:rPr lang="en-US" sz="2200" dirty="0">
                <a:solidFill>
                  <a:srgbClr val="1B2733"/>
                </a:solidFill>
                <a:latin typeface="Calibri" pitchFamily="34" charset="0"/>
                <a:ea typeface="Calibri" pitchFamily="34" charset="-122"/>
                <a:cs typeface="Calibri" pitchFamily="34" charset="-120"/>
              </a:rPr>
              <a:t>マスクなしでは、ぼやけたまま復元できない</a:t>
            </a:r>
            <a:endParaRPr lang="en-US" sz="2200" dirty="0"/>
          </a:p>
          <a:p>
            <a:pPr marL="279400" indent="-279400">
              <a:spcAft>
                <a:spcPts val="2600"/>
              </a:spcAft>
              <a:buSzPct val="100000"/>
              <a:buChar char="●"/>
            </a:pPr>
            <a:r>
              <a:rPr lang="en-US" sz="2200" dirty="0">
                <a:solidFill>
                  <a:srgbClr val="1B2733"/>
                </a:solidFill>
                <a:latin typeface="Calibri" pitchFamily="34" charset="0"/>
                <a:ea typeface="Calibri" pitchFamily="34" charset="-122"/>
                <a:cs typeface="Calibri" pitchFamily="34" charset="-120"/>
              </a:rPr>
              <a:t>ただしピントのずれが大きすぎると、位相マスクありでも復元は破綻する</a:t>
            </a:r>
            <a:endParaRPr lang="en-US" sz="2200" dirty="0"/>
          </a:p>
        </p:txBody>
      </p:sp>
    </p:spTree>
    <p:extLst>
      <p:ext uri="{BB962C8B-B14F-4D97-AF65-F5344CB8AC3E}">
        <p14:creationId xmlns:p14="http://schemas.microsoft.com/office/powerpoint/2010/main" val="1079171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384048"/>
          </a:xfrm>
          <a:prstGeom prst="rect">
            <a:avLst/>
          </a:prstGeom>
          <a:noFill/>
          <a:ln/>
        </p:spPr>
        <p:txBody>
          <a:bodyPr wrap="square" lIns="0" tIns="0" rIns="0" bIns="0" rtlCol="0" anchor="ctr"/>
          <a:lstStyle/>
          <a:p>
            <a:pPr marL="0" indent="0">
              <a:buNone/>
            </a:pPr>
            <a:endParaRPr lang="en-US" sz="2000" dirty="0"/>
          </a:p>
        </p:txBody>
      </p:sp>
      <p:sp>
        <p:nvSpPr>
          <p:cNvPr id="3" name="Text 1"/>
          <p:cNvSpPr txBox="1"/>
          <p:nvPr/>
        </p:nvSpPr>
        <p:spPr>
          <a:xfrm>
            <a:off x="640080" y="841248"/>
            <a:ext cx="10911535" cy="777240"/>
          </a:xfrm>
          <a:prstGeom prst="rect">
            <a:avLst/>
          </a:prstGeom>
          <a:noFill/>
          <a:ln/>
        </p:spPr>
        <p:txBody>
          <a:bodyPr wrap="square" lIns="0" tIns="0" rIns="0" bIns="0" rtlCol="0" anchor="ctr"/>
          <a:lstStyle/>
          <a:p>
            <a:pPr marL="0" indent="0">
              <a:buNone/>
            </a:pPr>
            <a:r>
              <a:rPr lang="en-US" sz="3200" b="1" dirty="0" err="1">
                <a:solidFill>
                  <a:srgbClr val="21295C"/>
                </a:solidFill>
                <a:latin typeface="Cambria" pitchFamily="34" charset="0"/>
                <a:ea typeface="Cambria" pitchFamily="34" charset="-122"/>
                <a:cs typeface="Cambria" pitchFamily="34" charset="-120"/>
              </a:rPr>
              <a:t>進捗まとめ</a:t>
            </a:r>
            <a:endParaRPr lang="en-US" sz="3200" dirty="0"/>
          </a:p>
        </p:txBody>
      </p:sp>
      <p:sp>
        <p:nvSpPr>
          <p:cNvPr id="4" name="Text 2"/>
          <p:cNvSpPr txBox="1"/>
          <p:nvPr/>
        </p:nvSpPr>
        <p:spPr>
          <a:xfrm>
            <a:off x="640080" y="2148840"/>
            <a:ext cx="548640" cy="45720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325880" y="2148840"/>
            <a:ext cx="4023360" cy="457200"/>
          </a:xfrm>
          <a:prstGeom prst="rect">
            <a:avLst/>
          </a:prstGeom>
          <a:noFill/>
          <a:ln/>
        </p:spPr>
        <p:txBody>
          <a:bodyPr wrap="square" lIns="0" tIns="0" rIns="0" bIns="0" rtlCol="0" anchor="ctr"/>
          <a:lstStyle/>
          <a:p>
            <a:pPr marL="0" indent="0">
              <a:buNone/>
            </a:pPr>
            <a:r>
              <a:rPr lang="en-US" sz="2200" b="1" dirty="0" err="1">
                <a:solidFill>
                  <a:srgbClr val="21295C"/>
                </a:solidFill>
                <a:latin typeface="Cambria" pitchFamily="34" charset="0"/>
                <a:ea typeface="Cambria" pitchFamily="34" charset="-122"/>
                <a:cs typeface="Cambria" pitchFamily="34" charset="-120"/>
              </a:rPr>
              <a:t>研究テーマの確認</a:t>
            </a:r>
            <a:endParaRPr lang="en-US" sz="2200" dirty="0"/>
          </a:p>
        </p:txBody>
      </p:sp>
      <p:sp>
        <p:nvSpPr>
          <p:cNvPr id="6" name="Text 4"/>
          <p:cNvSpPr txBox="1"/>
          <p:nvPr/>
        </p:nvSpPr>
        <p:spPr>
          <a:xfrm>
            <a:off x="5486400" y="2148840"/>
            <a:ext cx="6065215" cy="914400"/>
          </a:xfrm>
          <a:prstGeom prst="rect">
            <a:avLst/>
          </a:prstGeom>
          <a:noFill/>
          <a:ln/>
        </p:spPr>
        <p:txBody>
          <a:bodyPr wrap="square" lIns="0" tIns="0" rIns="0" bIns="0" rtlCol="0" anchor="ctr"/>
          <a:lstStyle/>
          <a:p>
            <a:pPr marL="0" indent="0">
              <a:buNone/>
            </a:pPr>
            <a:r>
              <a:rPr lang="en-US" sz="2200" dirty="0" err="1"/>
              <a:t>研究対象となるエリプソメトリー顕微鏡と計算イメージングの概要を理解・学習した</a:t>
            </a:r>
            <a:endParaRPr lang="en-US" sz="2200" dirty="0"/>
          </a:p>
        </p:txBody>
      </p:sp>
      <p:sp>
        <p:nvSpPr>
          <p:cNvPr id="7" name="Shape 5"/>
          <p:cNvSpPr/>
          <p:nvPr/>
        </p:nvSpPr>
        <p:spPr>
          <a:xfrm>
            <a:off x="640080" y="3090672"/>
            <a:ext cx="10911535" cy="0"/>
          </a:xfrm>
          <a:prstGeom prst="line">
            <a:avLst/>
          </a:prstGeom>
          <a:noFill/>
          <a:ln w="12700">
            <a:solidFill>
              <a:srgbClr val="D8E1E8"/>
            </a:solidFill>
            <a:prstDash val="solid"/>
          </a:ln>
        </p:spPr>
        <p:txBody>
          <a:bodyPr/>
          <a:lstStyle/>
          <a:p>
            <a:endParaRPr lang="ja-JP" altLang="en-US"/>
          </a:p>
        </p:txBody>
      </p:sp>
      <p:sp>
        <p:nvSpPr>
          <p:cNvPr id="8" name="Text 6"/>
          <p:cNvSpPr txBox="1"/>
          <p:nvPr/>
        </p:nvSpPr>
        <p:spPr>
          <a:xfrm>
            <a:off x="640080" y="3291840"/>
            <a:ext cx="548640" cy="45720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2</a:t>
            </a:r>
            <a:endParaRPr lang="en-US" sz="2600" dirty="0"/>
          </a:p>
        </p:txBody>
      </p:sp>
      <p:sp>
        <p:nvSpPr>
          <p:cNvPr id="9" name="Text 7"/>
          <p:cNvSpPr txBox="1"/>
          <p:nvPr/>
        </p:nvSpPr>
        <p:spPr>
          <a:xfrm>
            <a:off x="1325880" y="3291840"/>
            <a:ext cx="4023360" cy="457200"/>
          </a:xfrm>
          <a:prstGeom prst="rect">
            <a:avLst/>
          </a:prstGeom>
          <a:noFill/>
          <a:ln/>
        </p:spPr>
        <p:txBody>
          <a:bodyPr wrap="square" lIns="0" tIns="0" rIns="0" bIns="0" rtlCol="0" anchor="ctr"/>
          <a:lstStyle/>
          <a:p>
            <a:pPr marL="0" indent="0">
              <a:buNone/>
            </a:pPr>
            <a:r>
              <a:rPr lang="en-US" sz="2200" b="1" dirty="0" err="1">
                <a:solidFill>
                  <a:srgbClr val="21295C"/>
                </a:solidFill>
                <a:latin typeface="Cambria" pitchFamily="34" charset="0"/>
                <a:ea typeface="Cambria" pitchFamily="34" charset="-122"/>
                <a:cs typeface="Cambria" pitchFamily="34" charset="-120"/>
              </a:rPr>
              <a:t>古典的計算イメージングの再現</a:t>
            </a:r>
            <a:endParaRPr lang="en-US" sz="2200" dirty="0"/>
          </a:p>
        </p:txBody>
      </p:sp>
      <p:sp>
        <p:nvSpPr>
          <p:cNvPr id="10" name="Text 8"/>
          <p:cNvSpPr txBox="1"/>
          <p:nvPr/>
        </p:nvSpPr>
        <p:spPr>
          <a:xfrm>
            <a:off x="5486400" y="3291840"/>
            <a:ext cx="6065215" cy="914400"/>
          </a:xfrm>
          <a:prstGeom prst="rect">
            <a:avLst/>
          </a:prstGeom>
          <a:noFill/>
          <a:ln/>
        </p:spPr>
        <p:txBody>
          <a:bodyPr wrap="square" lIns="0" tIns="0" rIns="0" bIns="0" rtlCol="0" anchor="ctr"/>
          <a:lstStyle/>
          <a:p>
            <a:pPr marL="0" indent="0">
              <a:buNone/>
            </a:pPr>
            <a:r>
              <a:rPr lang="en-US" sz="2200" dirty="0" err="1"/>
              <a:t>先行研究を参考にCPMマスクの追加とwieneフィルターによる復元をシミュレーション</a:t>
            </a:r>
            <a:endParaRPr lang="en-US" sz="2200" dirty="0"/>
          </a:p>
        </p:txBody>
      </p:sp>
      <p:sp>
        <p:nvSpPr>
          <p:cNvPr id="11" name="Shape 9"/>
          <p:cNvSpPr/>
          <p:nvPr/>
        </p:nvSpPr>
        <p:spPr>
          <a:xfrm>
            <a:off x="640080" y="4233672"/>
            <a:ext cx="10911535" cy="0"/>
          </a:xfrm>
          <a:prstGeom prst="line">
            <a:avLst/>
          </a:prstGeom>
          <a:noFill/>
          <a:ln w="12700">
            <a:solidFill>
              <a:srgbClr val="D8E1E8"/>
            </a:solidFill>
            <a:prstDash val="solid"/>
          </a:ln>
        </p:spPr>
        <p:txBody>
          <a:bodyPr/>
          <a:lstStyle/>
          <a:p>
            <a:endParaRPr lang="ja-JP" altLang="en-US"/>
          </a:p>
        </p:txBody>
      </p:sp>
      <p:sp>
        <p:nvSpPr>
          <p:cNvPr id="12" name="Text 10"/>
          <p:cNvSpPr txBox="1"/>
          <p:nvPr/>
        </p:nvSpPr>
        <p:spPr>
          <a:xfrm>
            <a:off x="640080" y="4434840"/>
            <a:ext cx="548640" cy="45720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3</a:t>
            </a:r>
            <a:endParaRPr lang="en-US" sz="2600" dirty="0"/>
          </a:p>
        </p:txBody>
      </p:sp>
      <p:sp>
        <p:nvSpPr>
          <p:cNvPr id="13" name="Text 11"/>
          <p:cNvSpPr txBox="1"/>
          <p:nvPr/>
        </p:nvSpPr>
        <p:spPr>
          <a:xfrm>
            <a:off x="1325880" y="4434840"/>
            <a:ext cx="4023360" cy="457200"/>
          </a:xfrm>
          <a:prstGeom prst="rect">
            <a:avLst/>
          </a:prstGeom>
          <a:noFill/>
          <a:ln/>
        </p:spPr>
        <p:txBody>
          <a:bodyPr wrap="square" lIns="0" tIns="0" rIns="0" bIns="0" rtlCol="0" anchor="ctr"/>
          <a:lstStyle/>
          <a:p>
            <a:pPr marL="0" indent="0">
              <a:buNone/>
            </a:pPr>
            <a:r>
              <a:rPr lang="en-US" sz="2200" b="1" dirty="0" err="1">
                <a:solidFill>
                  <a:srgbClr val="21295C"/>
                </a:solidFill>
                <a:latin typeface="Cambria" pitchFamily="34" charset="0"/>
                <a:ea typeface="Cambria" pitchFamily="34" charset="-122"/>
                <a:cs typeface="Cambria" pitchFamily="34" charset="-120"/>
              </a:rPr>
              <a:t>今後の予定</a:t>
            </a:r>
            <a:endParaRPr lang="en-US" sz="2200" dirty="0"/>
          </a:p>
        </p:txBody>
      </p:sp>
      <p:sp>
        <p:nvSpPr>
          <p:cNvPr id="14" name="Text 12"/>
          <p:cNvSpPr txBox="1"/>
          <p:nvPr/>
        </p:nvSpPr>
        <p:spPr>
          <a:xfrm>
            <a:off x="5486400" y="4434840"/>
            <a:ext cx="6065215" cy="914400"/>
          </a:xfrm>
          <a:prstGeom prst="rect">
            <a:avLst/>
          </a:prstGeom>
          <a:noFill/>
          <a:ln/>
        </p:spPr>
        <p:txBody>
          <a:bodyPr wrap="square" lIns="0" tIns="0" rIns="0" bIns="0" rtlCol="0" anchor="ctr"/>
          <a:lstStyle/>
          <a:p>
            <a:pPr marL="0" indent="0">
              <a:buNone/>
            </a:pPr>
            <a:r>
              <a:rPr lang="en-US" sz="2200" dirty="0" err="1"/>
              <a:t>深層学習を用いたより高度な計算イメージングの学習</a:t>
            </a:r>
            <a:endParaRPr lang="en-US" sz="2200" dirty="0"/>
          </a:p>
        </p:txBody>
      </p:sp>
      <p:sp>
        <p:nvSpPr>
          <p:cNvPr id="15" name="Text 13"/>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2000" dirty="0">
                <a:solidFill>
                  <a:srgbClr val="5A6B7A"/>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379</Words>
  <Application>Microsoft Macintosh PowerPoint</Application>
  <PresentationFormat>ワイド画面</PresentationFormat>
  <Paragraphs>132</Paragraphs>
  <Slides>11</Slides>
  <Notes>10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Arial</vt:lpstr>
      <vt:lpstr>Calibri</vt:lpstr>
      <vt:lpstr>Cambria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SHIROMA Hikaru</cp:lastModifiedBy>
  <cp:revision>3</cp:revision>
  <dcterms:created xsi:type="dcterms:W3CDTF">2026-09-04T03:31:40Z</dcterms:created>
  <dcterms:modified xsi:type="dcterms:W3CDTF">2026-09-04T04:35:23Z</dcterms:modified>
</cp:coreProperties>
</file>